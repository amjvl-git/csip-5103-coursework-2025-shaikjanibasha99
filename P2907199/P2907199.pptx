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5" r:id="rId1"/>
  </p:sldMasterIdLst>
  <p:sldIdLst>
    <p:sldId id="256" r:id="rId2"/>
    <p:sldId id="258" r:id="rId3"/>
    <p:sldId id="259" r:id="rId4"/>
    <p:sldId id="260" r:id="rId5"/>
    <p:sldId id="262" r:id="rId6"/>
    <p:sldId id="263" r:id="rId7"/>
    <p:sldId id="264" r:id="rId8"/>
    <p:sldId id="265" r:id="rId9"/>
    <p:sldId id="266" r:id="rId10"/>
    <p:sldId id="267" r:id="rId11"/>
    <p:sldId id="268"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75"/>
    <p:restoredTop sz="94641"/>
  </p:normalViewPr>
  <p:slideViewPr>
    <p:cSldViewPr snapToGrid="0">
      <p:cViewPr>
        <p:scale>
          <a:sx n="89" d="100"/>
          <a:sy n="89" d="100"/>
        </p:scale>
        <p:origin x="1088" y="1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GB"/>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239469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64771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GB"/>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48A87A34-81AB-432B-8DAE-1953F412C126}" type="datetimeFigureOut">
              <a:rPr lang="en-US" smtClean="0"/>
              <a:t>11/3/25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522221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11/3/25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26215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11/3/25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2721186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8A87A34-81AB-432B-8DAE-1953F412C126}" type="datetimeFigureOut">
              <a:rPr lang="en-US" smtClean="0"/>
              <a:t>11/3/25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
        <p:nvSpPr>
          <p:cNvPr id="6" name="Title 5"/>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715643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11/3/25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32139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GB"/>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11/3/25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86220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GB"/>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11/3/25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3474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pPr/>
              <a:t>11/3/25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10897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18576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266817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48A87A34-81AB-432B-8DAE-1953F412C126}" type="datetimeFigureOut">
              <a:rPr lang="en-US" smtClean="0"/>
              <a:pPr/>
              <a:t>11/3/25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01865785"/>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9.png"/><Relationship Id="rId5" Type="http://schemas.microsoft.com/office/2007/relationships/hdphoto" Target="../media/hdphoto2.wdp"/><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6.xml"/><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4BC66A0E-E5D5-4E7D-9B93-33945A88C2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7" name="Rectangle 26">
            <a:extLst>
              <a:ext uri="{FF2B5EF4-FFF2-40B4-BE49-F238E27FC236}">
                <a16:creationId xmlns:a16="http://schemas.microsoft.com/office/drawing/2014/main" id="{5F90B9E6-5D91-4146-881E-1C680D9C75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5200" y="0"/>
            <a:ext cx="10272776" cy="48085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64D7B2-5535-E389-A09C-07117F4E39B3}"/>
              </a:ext>
            </a:extLst>
          </p:cNvPr>
          <p:cNvSpPr>
            <a:spLocks noGrp="1"/>
          </p:cNvSpPr>
          <p:nvPr>
            <p:ph type="ctrTitle"/>
          </p:nvPr>
        </p:nvSpPr>
        <p:spPr>
          <a:xfrm>
            <a:off x="1280144" y="560439"/>
            <a:ext cx="9625247" cy="4028007"/>
          </a:xfrm>
        </p:spPr>
        <p:txBody>
          <a:bodyPr anchor="b">
            <a:normAutofit/>
          </a:bodyPr>
          <a:lstStyle/>
          <a:p>
            <a:r>
              <a:rPr lang="en-US" sz="8900">
                <a:solidFill>
                  <a:srgbClr val="FFFFFF"/>
                </a:solidFill>
              </a:rPr>
              <a:t>Comparative Analysis: CNN Vs ANN for Fashion-MMst</a:t>
            </a:r>
          </a:p>
        </p:txBody>
      </p:sp>
      <p:sp>
        <p:nvSpPr>
          <p:cNvPr id="3" name="Subtitle 2">
            <a:extLst>
              <a:ext uri="{FF2B5EF4-FFF2-40B4-BE49-F238E27FC236}">
                <a16:creationId xmlns:a16="http://schemas.microsoft.com/office/drawing/2014/main" id="{0E20C04D-05BE-F7DE-8EAC-37A124E2E6E2}"/>
              </a:ext>
            </a:extLst>
          </p:cNvPr>
          <p:cNvSpPr>
            <a:spLocks noGrp="1"/>
          </p:cNvSpPr>
          <p:nvPr>
            <p:ph type="subTitle" idx="1"/>
          </p:nvPr>
        </p:nvSpPr>
        <p:spPr>
          <a:xfrm>
            <a:off x="1280144" y="4982844"/>
            <a:ext cx="9738376" cy="1069848"/>
          </a:xfrm>
        </p:spPr>
        <p:txBody>
          <a:bodyPr>
            <a:normAutofit/>
          </a:bodyPr>
          <a:lstStyle/>
          <a:p>
            <a:r>
              <a:rPr lang="en-US"/>
              <a:t>A performance evaluation of deep Learning architectures</a:t>
            </a:r>
            <a:endParaRPr lang="en-US" dirty="0"/>
          </a:p>
        </p:txBody>
      </p:sp>
      <p:sp>
        <p:nvSpPr>
          <p:cNvPr id="28" name="Rectangle 27">
            <a:extLst>
              <a:ext uri="{FF2B5EF4-FFF2-40B4-BE49-F238E27FC236}">
                <a16:creationId xmlns:a16="http://schemas.microsoft.com/office/drawing/2014/main" id="{A24B8EE7-D55B-4678-8F34-54296AEC7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412" y="4808538"/>
            <a:ext cx="1026871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964369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2A177-AC21-5213-FA97-DFC9538A8C08}"/>
              </a:ext>
            </a:extLst>
          </p:cNvPr>
          <p:cNvSpPr>
            <a:spLocks noGrp="1"/>
          </p:cNvSpPr>
          <p:nvPr>
            <p:ph type="title"/>
          </p:nvPr>
        </p:nvSpPr>
        <p:spPr>
          <a:xfrm>
            <a:off x="6587544" y="1382165"/>
            <a:ext cx="4869179" cy="1517984"/>
          </a:xfrm>
        </p:spPr>
        <p:txBody>
          <a:bodyPr>
            <a:normAutofit/>
          </a:bodyPr>
          <a:lstStyle/>
          <a:p>
            <a:r>
              <a:rPr lang="en-US" sz="4800">
                <a:solidFill>
                  <a:srgbClr val="000000"/>
                </a:solidFill>
              </a:rPr>
              <a:t>Finding Robust Classifier</a:t>
            </a:r>
          </a:p>
        </p:txBody>
      </p:sp>
      <p:sp>
        <p:nvSpPr>
          <p:cNvPr id="3" name="Content Placeholder 2">
            <a:extLst>
              <a:ext uri="{FF2B5EF4-FFF2-40B4-BE49-F238E27FC236}">
                <a16:creationId xmlns:a16="http://schemas.microsoft.com/office/drawing/2014/main" id="{30288153-2564-A115-621A-7376A0813E85}"/>
              </a:ext>
            </a:extLst>
          </p:cNvPr>
          <p:cNvSpPr>
            <a:spLocks noGrp="1"/>
          </p:cNvSpPr>
          <p:nvPr>
            <p:ph sz="quarter" idx="13"/>
          </p:nvPr>
        </p:nvSpPr>
        <p:spPr>
          <a:xfrm>
            <a:off x="6587545" y="3007389"/>
            <a:ext cx="4869179" cy="3065865"/>
          </a:xfrm>
        </p:spPr>
        <p:txBody>
          <a:bodyPr anchor="t">
            <a:normAutofit/>
          </a:bodyPr>
          <a:lstStyle/>
          <a:p>
            <a:r>
              <a:rPr lang="en-US" sz="1800">
                <a:solidFill>
                  <a:srgbClr val="000000"/>
                </a:solidFill>
              </a:rPr>
              <a:t>Goal: Train and compare ANN And cnn performance on Fashion mnist</a:t>
            </a:r>
          </a:p>
          <a:p>
            <a:r>
              <a:rPr lang="en-US" sz="1800">
                <a:solidFill>
                  <a:srgbClr val="000000"/>
                </a:solidFill>
              </a:rPr>
              <a:t>The challenge : Accurately classifying highly similar apparel items (e.g., Shirt, t-shirt, pullover, coat)</a:t>
            </a:r>
          </a:p>
          <a:p>
            <a:r>
              <a:rPr lang="en-US" sz="1800">
                <a:solidFill>
                  <a:srgbClr val="000000"/>
                </a:solidFill>
              </a:rPr>
              <a:t>Objective: Recommend the most accurate and stable model for practical deployment</a:t>
            </a:r>
          </a:p>
        </p:txBody>
      </p:sp>
      <p:pic>
        <p:nvPicPr>
          <p:cNvPr id="5" name="Picture 4">
            <a:extLst>
              <a:ext uri="{FF2B5EF4-FFF2-40B4-BE49-F238E27FC236}">
                <a16:creationId xmlns:a16="http://schemas.microsoft.com/office/drawing/2014/main" id="{9A6C27B4-5455-6FFB-A0BE-A91BF048619F}"/>
              </a:ext>
            </a:extLst>
          </p:cNvPr>
          <p:cNvPicPr>
            <a:picLocks noChangeAspect="1"/>
          </p:cNvPicPr>
          <p:nvPr/>
        </p:nvPicPr>
        <p:blipFill>
          <a:blip r:embed="rId2"/>
          <a:srcRect l="3009" r="2262"/>
          <a:stretch>
            <a:fillRect/>
          </a:stretch>
        </p:blipFill>
        <p:spPr>
          <a:xfrm>
            <a:off x="-9866" y="401980"/>
            <a:ext cx="6115733" cy="6456021"/>
          </a:xfrm>
          <a:custGeom>
            <a:avLst/>
            <a:gdLst/>
            <a:ahLst/>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p:spPr>
      </p:pic>
    </p:spTree>
    <p:extLst>
      <p:ext uri="{BB962C8B-B14F-4D97-AF65-F5344CB8AC3E}">
        <p14:creationId xmlns:p14="http://schemas.microsoft.com/office/powerpoint/2010/main" val="3797510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15AAB4E-1AF6-4A73-9822-087B0F4ED5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3F212613-818A-E6BB-BDF6-3C6F85CD2E39}"/>
              </a:ext>
            </a:extLst>
          </p:cNvPr>
          <p:cNvSpPr>
            <a:spLocks noGrp="1"/>
          </p:cNvSpPr>
          <p:nvPr>
            <p:ph type="ctrTitle"/>
          </p:nvPr>
        </p:nvSpPr>
        <p:spPr>
          <a:xfrm>
            <a:off x="643467" y="643466"/>
            <a:ext cx="6707157" cy="5571067"/>
          </a:xfrm>
        </p:spPr>
        <p:txBody>
          <a:bodyPr>
            <a:normAutofit/>
          </a:bodyPr>
          <a:lstStyle/>
          <a:p>
            <a:pPr algn="r"/>
            <a:r>
              <a:rPr lang="en-US"/>
              <a:t>Key Findings: CNN delivers superior performance</a:t>
            </a:r>
          </a:p>
        </p:txBody>
      </p:sp>
      <p:sp>
        <p:nvSpPr>
          <p:cNvPr id="27" name="Rectangle 26">
            <a:extLst>
              <a:ext uri="{FF2B5EF4-FFF2-40B4-BE49-F238E27FC236}">
                <a16:creationId xmlns:a16="http://schemas.microsoft.com/office/drawing/2014/main" id="{3FD794DA-8ACE-4EC4-8EB7-A34B9F6C1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78454" y="-2"/>
            <a:ext cx="4513546" cy="6858002"/>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Subtitle 2">
            <a:extLst>
              <a:ext uri="{FF2B5EF4-FFF2-40B4-BE49-F238E27FC236}">
                <a16:creationId xmlns:a16="http://schemas.microsoft.com/office/drawing/2014/main" id="{AF9EB317-E4B1-95BA-D983-67F1BF4AB946}"/>
              </a:ext>
            </a:extLst>
          </p:cNvPr>
          <p:cNvSpPr>
            <a:spLocks noGrp="1"/>
          </p:cNvSpPr>
          <p:nvPr>
            <p:ph type="subTitle" idx="1"/>
          </p:nvPr>
        </p:nvSpPr>
        <p:spPr>
          <a:xfrm>
            <a:off x="7994091" y="643465"/>
            <a:ext cx="3725961" cy="5571067"/>
          </a:xfrm>
        </p:spPr>
        <p:txBody>
          <a:bodyPr anchor="ctr">
            <a:normAutofit/>
          </a:bodyPr>
          <a:lstStyle/>
          <a:p>
            <a:r>
              <a:rPr lang="en-US" b="1">
                <a:solidFill>
                  <a:srgbClr val="000000"/>
                </a:solidFill>
              </a:rPr>
              <a:t>Quantifiable Accuracy Gap</a:t>
            </a:r>
            <a:r>
              <a:rPr lang="en-US">
                <a:solidFill>
                  <a:srgbClr val="000000"/>
                </a:solidFill>
              </a:rPr>
              <a:t>: CNN achieved a test accuracy (88% - 92%) a +2% solid Improvement over ANN (87% - 89%)</a:t>
            </a:r>
          </a:p>
          <a:p>
            <a:r>
              <a:rPr lang="en-IN" b="1">
                <a:solidFill>
                  <a:srgbClr val="000000"/>
                </a:solidFill>
              </a:rPr>
              <a:t>Enhanced Robustness</a:t>
            </a:r>
            <a:r>
              <a:rPr lang="en-IN">
                <a:solidFill>
                  <a:srgbClr val="000000"/>
                </a:solidFill>
              </a:rPr>
              <a:t>: CNN showed tighter, more stable convergence between training and validation loss, indicating better generalization and less overfitting.</a:t>
            </a:r>
            <a:endParaRPr lang="en-US">
              <a:solidFill>
                <a:srgbClr val="000000"/>
              </a:solidFill>
            </a:endParaRPr>
          </a:p>
        </p:txBody>
      </p:sp>
    </p:spTree>
    <p:extLst>
      <p:ext uri="{BB962C8B-B14F-4D97-AF65-F5344CB8AC3E}">
        <p14:creationId xmlns:p14="http://schemas.microsoft.com/office/powerpoint/2010/main" val="1473084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FCA88C2-C73C-4062-A097-8FBCE3090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3981C21-E132-4402-B31B-D725C1CE7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A685C77-4E84-486A-9AE5-F3635BE98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2" y="822324"/>
            <a:ext cx="5149596"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7D9E73-4872-6D48-2777-9A70DFD5DE79}"/>
              </a:ext>
            </a:extLst>
          </p:cNvPr>
          <p:cNvSpPr>
            <a:spLocks noGrp="1"/>
          </p:cNvSpPr>
          <p:nvPr>
            <p:ph type="title"/>
          </p:nvPr>
        </p:nvSpPr>
        <p:spPr>
          <a:xfrm>
            <a:off x="1286934" y="1465790"/>
            <a:ext cx="3860798" cy="3941345"/>
          </a:xfrm>
        </p:spPr>
        <p:txBody>
          <a:bodyPr>
            <a:normAutofit/>
          </a:bodyPr>
          <a:lstStyle/>
          <a:p>
            <a:r>
              <a:rPr lang="en-US" sz="6000" dirty="0"/>
              <a:t>Methodology Part – 1: Data Preparation</a:t>
            </a:r>
          </a:p>
        </p:txBody>
      </p:sp>
      <p:sp>
        <p:nvSpPr>
          <p:cNvPr id="3" name="Content Placeholder 2">
            <a:extLst>
              <a:ext uri="{FF2B5EF4-FFF2-40B4-BE49-F238E27FC236}">
                <a16:creationId xmlns:a16="http://schemas.microsoft.com/office/drawing/2014/main" id="{819F8041-6838-B88C-C5F9-17CA289B8BF5}"/>
              </a:ext>
            </a:extLst>
          </p:cNvPr>
          <p:cNvSpPr>
            <a:spLocks noGrp="1"/>
          </p:cNvSpPr>
          <p:nvPr>
            <p:ph idx="1"/>
          </p:nvPr>
        </p:nvSpPr>
        <p:spPr>
          <a:xfrm>
            <a:off x="5791199" y="1465790"/>
            <a:ext cx="6400801" cy="4048046"/>
          </a:xfrm>
        </p:spPr>
        <p:txBody>
          <a:bodyPr anchor="ctr">
            <a:normAutofit/>
          </a:bodyPr>
          <a:lstStyle/>
          <a:p>
            <a:r>
              <a:rPr lang="en-US" dirty="0"/>
              <a:t>Dataset: Fashion – MNIST (70,000 Images, 10 classes)</a:t>
            </a:r>
          </a:p>
          <a:p>
            <a:r>
              <a:rPr lang="en-US" altLang="en-US" b="1" dirty="0"/>
              <a:t>Normalization:</a:t>
            </a:r>
            <a:r>
              <a:rPr lang="en-US" altLang="en-US" dirty="0"/>
              <a:t> Pixel values normalized to </a:t>
            </a:r>
            <a:r>
              <a:rPr lang="en-US" altLang="en-US" b="1" dirty="0"/>
              <a:t>[-1, 1]</a:t>
            </a:r>
            <a:r>
              <a:rPr lang="en-US" altLang="en-US" dirty="0"/>
              <a:t> to aid faster optimizer convergence.</a:t>
            </a:r>
          </a:p>
          <a:p>
            <a:r>
              <a:rPr lang="en-US" altLang="en-US" b="1" dirty="0"/>
              <a:t>Splitting:</a:t>
            </a:r>
            <a:endParaRPr lang="en-US" altLang="en-US" dirty="0"/>
          </a:p>
          <a:p>
            <a:pPr lvl="1"/>
            <a:r>
              <a:rPr lang="en-US" altLang="en-US" b="1" dirty="0"/>
              <a:t>Training Set:</a:t>
            </a:r>
            <a:r>
              <a:rPr lang="en-US" altLang="en-US" dirty="0"/>
              <a:t> 60,000 images (Split 90/10 for Training/Validation).</a:t>
            </a:r>
          </a:p>
          <a:p>
            <a:pPr lvl="1"/>
            <a:r>
              <a:rPr lang="en-US" altLang="en-US" b="1" dirty="0"/>
              <a:t>Test Set:</a:t>
            </a:r>
            <a:r>
              <a:rPr lang="en-US" altLang="en-US" dirty="0"/>
              <a:t> 10,000 images (Reserved for unbiased final accuracy evaluation).</a:t>
            </a:r>
          </a:p>
          <a:p>
            <a:endParaRPr lang="en-US" dirty="0"/>
          </a:p>
          <a:p>
            <a:endParaRPr lang="en-US" dirty="0"/>
          </a:p>
        </p:txBody>
      </p:sp>
      <p:sp>
        <p:nvSpPr>
          <p:cNvPr id="19" name="Rectangle 18">
            <a:extLst>
              <a:ext uri="{FF2B5EF4-FFF2-40B4-BE49-F238E27FC236}">
                <a16:creationId xmlns:a16="http://schemas.microsoft.com/office/drawing/2014/main" id="{E55C1C3E-5158-47F3-8FD9-14B22C3E6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121662"/>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7598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B0003-974E-5082-D129-3A61D6FB7697}"/>
              </a:ext>
            </a:extLst>
          </p:cNvPr>
          <p:cNvSpPr>
            <a:spLocks noGrp="1"/>
          </p:cNvSpPr>
          <p:nvPr>
            <p:ph type="title"/>
          </p:nvPr>
        </p:nvSpPr>
        <p:spPr/>
        <p:txBody>
          <a:bodyPr/>
          <a:lstStyle/>
          <a:p>
            <a:r>
              <a:rPr lang="en-US"/>
              <a:t>Methodology Part – ii : Model Architectures (PyTorch)</a:t>
            </a:r>
            <a:endParaRPr lang="en-US" dirty="0"/>
          </a:p>
        </p:txBody>
      </p:sp>
      <p:pic>
        <p:nvPicPr>
          <p:cNvPr id="6" name="Content Placeholder 5" descr="A screenshot of a computer&#10;&#10;AI-generated content may be incorrect.">
            <a:extLst>
              <a:ext uri="{FF2B5EF4-FFF2-40B4-BE49-F238E27FC236}">
                <a16:creationId xmlns:a16="http://schemas.microsoft.com/office/drawing/2014/main" id="{64EF1AD1-10BE-39AA-AD61-11C7E549A8FF}"/>
              </a:ext>
            </a:extLst>
          </p:cNvPr>
          <p:cNvPicPr>
            <a:picLocks noGrp="1" noChangeAspect="1"/>
          </p:cNvPicPr>
          <p:nvPr>
            <p:ph sz="half" idx="1"/>
          </p:nvPr>
        </p:nvPicPr>
        <p:blipFill>
          <a:blip r:embed="rId2"/>
          <a:stretch>
            <a:fillRect/>
          </a:stretch>
        </p:blipFill>
        <p:spPr>
          <a:xfrm>
            <a:off x="960279" y="1980565"/>
            <a:ext cx="4562475" cy="4562475"/>
          </a:xfrm>
        </p:spPr>
      </p:pic>
      <p:sp>
        <p:nvSpPr>
          <p:cNvPr id="4" name="Content Placeholder 3">
            <a:extLst>
              <a:ext uri="{FF2B5EF4-FFF2-40B4-BE49-F238E27FC236}">
                <a16:creationId xmlns:a16="http://schemas.microsoft.com/office/drawing/2014/main" id="{0CE06588-58B7-D360-3AEE-47CB5C5D1EEA}"/>
              </a:ext>
            </a:extLst>
          </p:cNvPr>
          <p:cNvSpPr>
            <a:spLocks noGrp="1"/>
          </p:cNvSpPr>
          <p:nvPr>
            <p:ph sz="half" idx="2"/>
          </p:nvPr>
        </p:nvSpPr>
        <p:spPr/>
        <p:txBody>
          <a:bodyPr>
            <a:normAutofit fontScale="85000" lnSpcReduction="20000"/>
          </a:bodyPr>
          <a:lstStyle/>
          <a:p>
            <a:r>
              <a:rPr lang="en-US" altLang="en-US" b="1" dirty="0">
                <a:latin typeface="Rockwell" panose="02060603020205020403" pitchFamily="18" charset="77"/>
              </a:rPr>
              <a:t>ANN Ignores Spatial Data:</a:t>
            </a:r>
            <a:r>
              <a:rPr lang="en-US" altLang="en-US" dirty="0">
                <a:latin typeface="Rockwell" panose="02060603020205020403" pitchFamily="18" charset="77"/>
              </a:rPr>
              <a:t> The </a:t>
            </a:r>
            <a:r>
              <a:rPr lang="en-US" altLang="en-US" b="1" dirty="0">
                <a:latin typeface="Rockwell" panose="02060603020205020403" pitchFamily="18" charset="77"/>
              </a:rPr>
              <a:t>Artificial Neural Network (ANN)</a:t>
            </a:r>
            <a:r>
              <a:rPr lang="en-US" altLang="en-US" dirty="0">
                <a:latin typeface="Rockwell" panose="02060603020205020403" pitchFamily="18" charset="77"/>
              </a:rPr>
              <a:t> must first </a:t>
            </a:r>
            <a:r>
              <a:rPr lang="en-US" altLang="en-US" b="1" dirty="0">
                <a:latin typeface="Rockwell" panose="02060603020205020403" pitchFamily="18" charset="77"/>
              </a:rPr>
              <a:t>flatten</a:t>
            </a:r>
            <a:r>
              <a:rPr lang="en-US" altLang="en-US" dirty="0">
                <a:latin typeface="Rockwell" panose="02060603020205020403" pitchFamily="18" charset="77"/>
              </a:rPr>
              <a:t> the 28x28 image into a 784-pixel vector, completely </a:t>
            </a:r>
            <a:r>
              <a:rPr lang="en-US" altLang="en-US" b="1" dirty="0">
                <a:latin typeface="Rockwell" panose="02060603020205020403" pitchFamily="18" charset="77"/>
              </a:rPr>
              <a:t>ignoring</a:t>
            </a:r>
            <a:r>
              <a:rPr lang="en-US" altLang="en-US" dirty="0">
                <a:latin typeface="Rockwell" panose="02060603020205020403" pitchFamily="18" charset="77"/>
              </a:rPr>
              <a:t> the spatial relationships (the patterns and location of features) that make up the clothing items.</a:t>
            </a:r>
          </a:p>
          <a:p>
            <a:r>
              <a:rPr lang="en-US" altLang="en-US" b="1" dirty="0">
                <a:latin typeface="Rockwell" panose="02060603020205020403" pitchFamily="18" charset="77"/>
              </a:rPr>
              <a:t>CNN Learns Hierarchical Features:</a:t>
            </a:r>
            <a:r>
              <a:rPr lang="en-US" altLang="en-US" dirty="0">
                <a:latin typeface="Rockwell" panose="02060603020205020403" pitchFamily="18" charset="77"/>
              </a:rPr>
              <a:t> The </a:t>
            </a:r>
            <a:r>
              <a:rPr lang="en-US" altLang="en-US" b="1" dirty="0">
                <a:latin typeface="Rockwell" panose="02060603020205020403" pitchFamily="18" charset="77"/>
              </a:rPr>
              <a:t>Convolutional Neural Network (CNN)</a:t>
            </a:r>
            <a:r>
              <a:rPr lang="en-US" altLang="en-US" dirty="0">
                <a:latin typeface="Rockwell" panose="02060603020205020403" pitchFamily="18" charset="77"/>
              </a:rPr>
              <a:t> </a:t>
            </a:r>
            <a:r>
              <a:rPr lang="en-US" altLang="en-US" b="1" dirty="0">
                <a:latin typeface="Rockwell" panose="02060603020205020403" pitchFamily="18" charset="77"/>
              </a:rPr>
              <a:t>preserves</a:t>
            </a:r>
            <a:r>
              <a:rPr lang="en-US" altLang="en-US" dirty="0">
                <a:latin typeface="Rockwell" panose="02060603020205020403" pitchFamily="18" charset="77"/>
              </a:rPr>
              <a:t> the 28x28 image structure and uses its two blocks of Convolutional and Pooling layers to actively extract progressively complex features based on these spatial relationships.</a:t>
            </a:r>
          </a:p>
          <a:p>
            <a:r>
              <a:rPr lang="en-US" altLang="en-US" b="1" dirty="0">
                <a:latin typeface="Rockwell" panose="02060603020205020403" pitchFamily="18" charset="77"/>
              </a:rPr>
              <a:t>Core Structural Difference:</a:t>
            </a:r>
            <a:r>
              <a:rPr lang="en-US" altLang="en-US" dirty="0">
                <a:latin typeface="Rockwell" panose="02060603020205020403" pitchFamily="18" charset="77"/>
              </a:rPr>
              <a:t> The ANN relies on simple Linear layers operating on disconnected pixels, whereas the CNN uses </a:t>
            </a:r>
            <a:r>
              <a:rPr lang="en-US" altLang="en-US" b="1" dirty="0">
                <a:latin typeface="Rockwell" panose="02060603020205020403" pitchFamily="18" charset="77"/>
              </a:rPr>
              <a:t>Conv -&gt; </a:t>
            </a:r>
            <a:r>
              <a:rPr lang="en-US" altLang="en-US" b="1" dirty="0" err="1">
                <a:latin typeface="Rockwell" panose="02060603020205020403" pitchFamily="18" charset="77"/>
              </a:rPr>
              <a:t>MaxPool</a:t>
            </a:r>
            <a:r>
              <a:rPr lang="en-US" altLang="en-US" b="1" dirty="0">
                <a:latin typeface="Rockwell" panose="02060603020205020403" pitchFamily="18" charset="77"/>
              </a:rPr>
              <a:t> blocks</a:t>
            </a:r>
            <a:r>
              <a:rPr lang="en-US" altLang="en-US" dirty="0">
                <a:latin typeface="Rockwell" panose="02060603020205020403" pitchFamily="18" charset="77"/>
              </a:rPr>
              <a:t> to build an understanding of the image before moving to the final output layer.</a:t>
            </a:r>
          </a:p>
          <a:p>
            <a:endParaRPr lang="en-US" dirty="0"/>
          </a:p>
        </p:txBody>
      </p:sp>
    </p:spTree>
    <p:extLst>
      <p:ext uri="{BB962C8B-B14F-4D97-AF65-F5344CB8AC3E}">
        <p14:creationId xmlns:p14="http://schemas.microsoft.com/office/powerpoint/2010/main" val="3486019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0" name="Group 59">
            <a:extLst>
              <a:ext uri="{FF2B5EF4-FFF2-40B4-BE49-F238E27FC236}">
                <a16:creationId xmlns:a16="http://schemas.microsoft.com/office/drawing/2014/main" id="{EC78E3E1-BBBA-4058-AAEB-714F04B025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61" name="Oval 60">
              <a:extLst>
                <a:ext uri="{FF2B5EF4-FFF2-40B4-BE49-F238E27FC236}">
                  <a16:creationId xmlns:a16="http://schemas.microsoft.com/office/drawing/2014/main" id="{86860FA5-CE2B-4019-8FD1-031D7D84E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2" name="Oval 61">
              <a:extLst>
                <a:ext uri="{FF2B5EF4-FFF2-40B4-BE49-F238E27FC236}">
                  <a16:creationId xmlns:a16="http://schemas.microsoft.com/office/drawing/2014/main" id="{392DF474-2C37-4DC7-B889-E88EAADEA6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4" name="Rectangle 63">
            <a:extLst>
              <a:ext uri="{FF2B5EF4-FFF2-40B4-BE49-F238E27FC236}">
                <a16:creationId xmlns:a16="http://schemas.microsoft.com/office/drawing/2014/main" id="{1C7FF924-8DA0-4BE9-8C7E-095B0EC13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6502" y="0"/>
            <a:ext cx="6125497" cy="6857999"/>
          </a:xfrm>
          <a:prstGeom prst="rect">
            <a:avLst/>
          </a:prstGeom>
          <a:blipFill dpi="0" rotWithShape="1">
            <a:blip r:embed="rId4">
              <a:alphaModFix amt="6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8BDE87-70BF-9DBD-DD12-39FD30C2DEBF}"/>
              </a:ext>
            </a:extLst>
          </p:cNvPr>
          <p:cNvSpPr>
            <a:spLocks noGrp="1"/>
          </p:cNvSpPr>
          <p:nvPr>
            <p:ph type="title"/>
          </p:nvPr>
        </p:nvSpPr>
        <p:spPr>
          <a:xfrm>
            <a:off x="6096000" y="484632"/>
            <a:ext cx="5604386" cy="1609344"/>
          </a:xfrm>
          <a:ln>
            <a:noFill/>
          </a:ln>
        </p:spPr>
        <p:txBody>
          <a:bodyPr vert="horz" lIns="91440" tIns="45720" rIns="91440" bIns="45720" rtlCol="0" anchor="ctr">
            <a:normAutofit/>
          </a:bodyPr>
          <a:lstStyle/>
          <a:p>
            <a:r>
              <a:rPr lang="en-US" sz="4000" dirty="0"/>
              <a:t>Quantitative Results : Accuracy Comparison</a:t>
            </a:r>
          </a:p>
        </p:txBody>
      </p:sp>
      <p:pic>
        <p:nvPicPr>
          <p:cNvPr id="6" name="Content Placeholder 5" descr="A graph of blue and orange bars&#10;&#10;AI-generated content may be incorrect.">
            <a:extLst>
              <a:ext uri="{FF2B5EF4-FFF2-40B4-BE49-F238E27FC236}">
                <a16:creationId xmlns:a16="http://schemas.microsoft.com/office/drawing/2014/main" id="{5A464ABA-D593-9980-4F53-5D10E9540417}"/>
              </a:ext>
            </a:extLst>
          </p:cNvPr>
          <p:cNvPicPr>
            <a:picLocks noGrp="1" noChangeAspect="1"/>
          </p:cNvPicPr>
          <p:nvPr>
            <p:ph sz="half" idx="1"/>
          </p:nvPr>
        </p:nvPicPr>
        <p:blipFill>
          <a:blip r:embed="rId6"/>
          <a:stretch>
            <a:fillRect/>
          </a:stretch>
        </p:blipFill>
        <p:spPr>
          <a:xfrm>
            <a:off x="75905" y="1721457"/>
            <a:ext cx="5877025" cy="3937605"/>
          </a:xfrm>
          <a:prstGeom prst="rect">
            <a:avLst/>
          </a:prstGeom>
        </p:spPr>
      </p:pic>
      <p:sp>
        <p:nvSpPr>
          <p:cNvPr id="4" name="Content Placeholder 3">
            <a:extLst>
              <a:ext uri="{FF2B5EF4-FFF2-40B4-BE49-F238E27FC236}">
                <a16:creationId xmlns:a16="http://schemas.microsoft.com/office/drawing/2014/main" id="{14B1CA97-EE41-F2AF-8B34-B6981898453B}"/>
              </a:ext>
            </a:extLst>
          </p:cNvPr>
          <p:cNvSpPr>
            <a:spLocks noGrp="1"/>
          </p:cNvSpPr>
          <p:nvPr>
            <p:ph sz="half" idx="2"/>
          </p:nvPr>
        </p:nvSpPr>
        <p:spPr>
          <a:xfrm>
            <a:off x="6095999" y="2121408"/>
            <a:ext cx="5604385" cy="4050792"/>
          </a:xfrm>
        </p:spPr>
        <p:txBody>
          <a:bodyPr vert="horz" lIns="91440" tIns="45720" rIns="91440" bIns="45720" rtlCol="0">
            <a:normAutofit/>
          </a:bodyPr>
          <a:lstStyle/>
          <a:p>
            <a:r>
              <a:rPr lang="en-US" altLang="en-US" sz="1800" dirty="0">
                <a:latin typeface="Rockwell" panose="02060603020205020403" pitchFamily="18" charset="77"/>
              </a:rPr>
              <a:t>The </a:t>
            </a:r>
            <a:r>
              <a:rPr lang="en-US" altLang="en-US" sz="1800" b="1" dirty="0">
                <a:latin typeface="Rockwell" panose="02060603020205020403" pitchFamily="18" charset="77"/>
              </a:rPr>
              <a:t>Simple CNN</a:t>
            </a:r>
            <a:r>
              <a:rPr lang="en-US" altLang="en-US" sz="1800" dirty="0">
                <a:latin typeface="Rockwell" panose="02060603020205020403" pitchFamily="18" charset="77"/>
              </a:rPr>
              <a:t> significantly </a:t>
            </a:r>
            <a:r>
              <a:rPr lang="en-US" altLang="en-US" sz="1800" b="1" dirty="0">
                <a:latin typeface="Rockwell" panose="02060603020205020403" pitchFamily="18" charset="77"/>
              </a:rPr>
              <a:t>outperformed the ANN (MLP)</a:t>
            </a:r>
            <a:r>
              <a:rPr lang="en-US" altLang="en-US" sz="1800" dirty="0">
                <a:latin typeface="Rockwell" panose="02060603020205020403" pitchFamily="18" charset="77"/>
              </a:rPr>
              <a:t> across all metrics, achieving a final </a:t>
            </a:r>
            <a:r>
              <a:rPr lang="en-US" altLang="en-US" sz="1800" b="1" dirty="0">
                <a:latin typeface="Rockwell" panose="02060603020205020403" pitchFamily="18" charset="77"/>
              </a:rPr>
              <a:t>Test Accuracy of 91.25%</a:t>
            </a:r>
            <a:r>
              <a:rPr lang="en-US" altLang="en-US" sz="1800" dirty="0">
                <a:latin typeface="Rockwell" panose="02060603020205020403" pitchFamily="18" charset="77"/>
              </a:rPr>
              <a:t> compared to the ANN's 87.57%.</a:t>
            </a:r>
          </a:p>
          <a:p>
            <a:r>
              <a:rPr lang="en-US" altLang="en-US" sz="1800" dirty="0">
                <a:latin typeface="Rockwell" panose="02060603020205020403" pitchFamily="18" charset="77"/>
              </a:rPr>
              <a:t>This confirms the CNN's ability to create a better </a:t>
            </a:r>
            <a:r>
              <a:rPr lang="en-US" altLang="en-US" sz="1800" b="1" dirty="0">
                <a:latin typeface="Rockwell" panose="02060603020205020403" pitchFamily="18" charset="77"/>
              </a:rPr>
              <a:t>internal representation</a:t>
            </a:r>
            <a:r>
              <a:rPr lang="en-US" altLang="en-US" sz="1800" dirty="0">
                <a:latin typeface="Rockwell" panose="02060603020205020403" pitchFamily="18" charset="77"/>
              </a:rPr>
              <a:t> of the image data.</a:t>
            </a:r>
          </a:p>
          <a:p>
            <a:r>
              <a:rPr lang="en-US" altLang="en-US" sz="1800" dirty="0">
                <a:latin typeface="Rockwell" panose="02060603020205020403" pitchFamily="18" charset="77"/>
              </a:rPr>
              <a:t>The CNN exhibited </a:t>
            </a:r>
            <a:r>
              <a:rPr lang="en-US" altLang="en-US" sz="1800" b="1" dirty="0">
                <a:latin typeface="Rockwell" panose="02060603020205020403" pitchFamily="18" charset="77"/>
              </a:rPr>
              <a:t>stronger learning capacity</a:t>
            </a:r>
            <a:r>
              <a:rPr lang="en-US" altLang="en-US" sz="1800" dirty="0">
                <a:latin typeface="Rockwell" panose="02060603020205020403" pitchFamily="18" charset="77"/>
              </a:rPr>
              <a:t> (Train Accuracy: 95.22%) and </a:t>
            </a:r>
            <a:r>
              <a:rPr lang="en-US" altLang="en-US" sz="1800" b="1" dirty="0">
                <a:latin typeface="Rockwell" panose="02060603020205020403" pitchFamily="18" charset="77"/>
              </a:rPr>
              <a:t>better generalization</a:t>
            </a:r>
            <a:r>
              <a:rPr lang="en-US" altLang="en-US" sz="1800" dirty="0">
                <a:latin typeface="Rockwell" panose="02060603020205020403" pitchFamily="18" charset="77"/>
              </a:rPr>
              <a:t> (Validation Accuracy: 91.98%) than the ANN.</a:t>
            </a:r>
          </a:p>
          <a:p>
            <a:r>
              <a:rPr lang="en-US" altLang="en-US" sz="1800" dirty="0">
                <a:latin typeface="Rockwell" panose="02060603020205020403" pitchFamily="18" charset="77"/>
              </a:rPr>
              <a:t>This visualization clearly supports the report's conclusion that the CNN architecture is </a:t>
            </a:r>
            <a:r>
              <a:rPr lang="en-US" altLang="en-US" sz="1800" b="1" dirty="0">
                <a:latin typeface="Rockwell" panose="02060603020205020403" pitchFamily="18" charset="77"/>
              </a:rPr>
              <a:t>superior for image classification</a:t>
            </a:r>
            <a:r>
              <a:rPr lang="en-US" altLang="en-US" sz="1800" dirty="0">
                <a:latin typeface="Rockwell" panose="02060603020205020403" pitchFamily="18" charset="77"/>
              </a:rPr>
              <a:t> on the Fashion-MNIST dataset.</a:t>
            </a:r>
          </a:p>
          <a:p>
            <a:endParaRPr lang="en-US" altLang="en-US" sz="1800" dirty="0">
              <a:latin typeface="Rockwell" panose="02060603020205020403" pitchFamily="18" charset="77"/>
            </a:endParaRPr>
          </a:p>
          <a:p>
            <a:endParaRPr lang="en-US" sz="1800" dirty="0">
              <a:latin typeface="Rockwell" panose="02060603020205020403" pitchFamily="18" charset="77"/>
            </a:endParaRPr>
          </a:p>
        </p:txBody>
      </p:sp>
      <p:grpSp>
        <p:nvGrpSpPr>
          <p:cNvPr id="66" name="Group 65">
            <a:extLst>
              <a:ext uri="{FF2B5EF4-FFF2-40B4-BE49-F238E27FC236}">
                <a16:creationId xmlns:a16="http://schemas.microsoft.com/office/drawing/2014/main" id="{5029B4A8-2CF0-48DC-B29E-F3B62EDDC4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67" name="Oval 66">
              <a:extLst>
                <a:ext uri="{FF2B5EF4-FFF2-40B4-BE49-F238E27FC236}">
                  <a16:creationId xmlns:a16="http://schemas.microsoft.com/office/drawing/2014/main" id="{F71DA811-F7AE-460D-9891-57F221994B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8" name="Oval 67">
              <a:extLst>
                <a:ext uri="{FF2B5EF4-FFF2-40B4-BE49-F238E27FC236}">
                  <a16:creationId xmlns:a16="http://schemas.microsoft.com/office/drawing/2014/main" id="{3747795E-BBFD-44B4-892D-2054745A8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2710383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8" name="Group 57">
            <a:extLst>
              <a:ext uri="{FF2B5EF4-FFF2-40B4-BE49-F238E27FC236}">
                <a16:creationId xmlns:a16="http://schemas.microsoft.com/office/drawing/2014/main" id="{EC78E3E1-BBBA-4058-AAEB-714F04B025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59" name="Oval 58">
              <a:extLst>
                <a:ext uri="{FF2B5EF4-FFF2-40B4-BE49-F238E27FC236}">
                  <a16:creationId xmlns:a16="http://schemas.microsoft.com/office/drawing/2014/main" id="{86860FA5-CE2B-4019-8FD1-031D7D84E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0" name="Oval 59">
              <a:extLst>
                <a:ext uri="{FF2B5EF4-FFF2-40B4-BE49-F238E27FC236}">
                  <a16:creationId xmlns:a16="http://schemas.microsoft.com/office/drawing/2014/main" id="{392DF474-2C37-4DC7-B889-E88EAADEA6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2" name="Rectangle 61">
            <a:extLst>
              <a:ext uri="{FF2B5EF4-FFF2-40B4-BE49-F238E27FC236}">
                <a16:creationId xmlns:a16="http://schemas.microsoft.com/office/drawing/2014/main" id="{1C7FF924-8DA0-4BE9-8C7E-095B0EC13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6502" y="0"/>
            <a:ext cx="6125497" cy="6857999"/>
          </a:xfrm>
          <a:prstGeom prst="rect">
            <a:avLst/>
          </a:prstGeom>
          <a:blipFill dpi="0" rotWithShape="1">
            <a:blip r:embed="rId4">
              <a:alphaModFix amt="6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45D0E9-0D2F-B9C0-2468-B7AC73056B09}"/>
              </a:ext>
            </a:extLst>
          </p:cNvPr>
          <p:cNvSpPr>
            <a:spLocks noGrp="1"/>
          </p:cNvSpPr>
          <p:nvPr>
            <p:ph type="title"/>
          </p:nvPr>
        </p:nvSpPr>
        <p:spPr>
          <a:xfrm>
            <a:off x="6400800" y="484632"/>
            <a:ext cx="5299586" cy="1609344"/>
          </a:xfrm>
          <a:ln>
            <a:noFill/>
          </a:ln>
        </p:spPr>
        <p:txBody>
          <a:bodyPr vert="horz" lIns="91440" tIns="45720" rIns="91440" bIns="45720" rtlCol="0" anchor="ctr">
            <a:normAutofit/>
          </a:bodyPr>
          <a:lstStyle/>
          <a:p>
            <a:r>
              <a:rPr lang="en-US" sz="3400"/>
              <a:t>Quantitative Results : Convergence and generalization</a:t>
            </a:r>
          </a:p>
        </p:txBody>
      </p:sp>
      <p:pic>
        <p:nvPicPr>
          <p:cNvPr id="16" name="Content Placeholder 15" descr="A graph of a training and validation loss comparison&#10;&#10;AI-generated content may be incorrect.">
            <a:extLst>
              <a:ext uri="{FF2B5EF4-FFF2-40B4-BE49-F238E27FC236}">
                <a16:creationId xmlns:a16="http://schemas.microsoft.com/office/drawing/2014/main" id="{E83DEEEC-A252-224C-1E57-A6D3D6725F7C}"/>
              </a:ext>
            </a:extLst>
          </p:cNvPr>
          <p:cNvPicPr>
            <a:picLocks noGrp="1" noChangeAspect="1"/>
          </p:cNvPicPr>
          <p:nvPr>
            <p:ph sz="half" idx="1"/>
          </p:nvPr>
        </p:nvPicPr>
        <p:blipFill>
          <a:blip r:embed="rId6"/>
          <a:stretch>
            <a:fillRect/>
          </a:stretch>
        </p:blipFill>
        <p:spPr>
          <a:xfrm>
            <a:off x="75308" y="1300162"/>
            <a:ext cx="5934042" cy="4257674"/>
          </a:xfrm>
          <a:prstGeom prst="rect">
            <a:avLst/>
          </a:prstGeom>
        </p:spPr>
      </p:pic>
      <p:sp>
        <p:nvSpPr>
          <p:cNvPr id="4" name="Content Placeholder 3">
            <a:extLst>
              <a:ext uri="{FF2B5EF4-FFF2-40B4-BE49-F238E27FC236}">
                <a16:creationId xmlns:a16="http://schemas.microsoft.com/office/drawing/2014/main" id="{56FED8C2-3A13-44C2-6AA9-BD85AFDDE2E7}"/>
              </a:ext>
            </a:extLst>
          </p:cNvPr>
          <p:cNvSpPr>
            <a:spLocks noGrp="1"/>
          </p:cNvSpPr>
          <p:nvPr>
            <p:ph sz="half" idx="2"/>
          </p:nvPr>
        </p:nvSpPr>
        <p:spPr>
          <a:xfrm>
            <a:off x="6400799" y="2121408"/>
            <a:ext cx="5299585" cy="4050792"/>
          </a:xfrm>
        </p:spPr>
        <p:txBody>
          <a:bodyPr vert="horz" lIns="91440" tIns="45720" rIns="91440" bIns="45720" rtlCol="0">
            <a:normAutofit/>
          </a:bodyPr>
          <a:lstStyle/>
          <a:p>
            <a:pPr fontAlgn="base">
              <a:spcBef>
                <a:spcPct val="0"/>
              </a:spcBef>
              <a:spcAft>
                <a:spcPts val="600"/>
              </a:spcAft>
            </a:pPr>
            <a:r>
              <a:rPr lang="en-US" altLang="en-US" sz="1400" b="1"/>
              <a:t>Lower Initial Loss:</a:t>
            </a:r>
            <a:r>
              <a:rPr lang="en-US" altLang="en-US" sz="1400"/>
              <a:t> The </a:t>
            </a:r>
            <a:r>
              <a:rPr lang="en-US" altLang="en-US" sz="1400" b="1"/>
              <a:t>CNN</a:t>
            </a:r>
            <a:r>
              <a:rPr lang="en-US" altLang="en-US" sz="1400"/>
              <a:t> started with a lower initial loss value at Epoch 1 compared to the ANN, suggesting its structure was immediately more suited to the task.</a:t>
            </a:r>
          </a:p>
          <a:p>
            <a:pPr fontAlgn="base">
              <a:spcBef>
                <a:spcPct val="0"/>
              </a:spcBef>
              <a:spcAft>
                <a:spcPts val="600"/>
              </a:spcAft>
            </a:pPr>
            <a:endParaRPr lang="en-US" altLang="en-US" sz="1400"/>
          </a:p>
          <a:p>
            <a:pPr fontAlgn="base">
              <a:spcBef>
                <a:spcPct val="0"/>
              </a:spcBef>
              <a:spcAft>
                <a:spcPts val="600"/>
              </a:spcAft>
            </a:pPr>
            <a:r>
              <a:rPr lang="en-US" altLang="en-US" sz="1400" b="1"/>
              <a:t>Faster Convergence:</a:t>
            </a:r>
            <a:r>
              <a:rPr lang="en-US" altLang="en-US" sz="1400"/>
              <a:t> The </a:t>
            </a:r>
            <a:r>
              <a:rPr lang="en-US" altLang="en-US" sz="1400" b="1"/>
              <a:t>CNN's</a:t>
            </a:r>
            <a:r>
              <a:rPr lang="en-US" altLang="en-US" sz="1400"/>
              <a:t> loss curves (Train and Val) show a </a:t>
            </a:r>
            <a:r>
              <a:rPr lang="en-US" altLang="en-US" sz="1400" b="1"/>
              <a:t>much steeper and quicker drop</a:t>
            </a:r>
            <a:r>
              <a:rPr lang="en-US" altLang="en-US" sz="1400"/>
              <a:t>, indicating a significantly faster and more efficient convergence to a minimum loss state.</a:t>
            </a:r>
          </a:p>
          <a:p>
            <a:pPr fontAlgn="base">
              <a:spcBef>
                <a:spcPct val="0"/>
              </a:spcBef>
              <a:spcAft>
                <a:spcPts val="600"/>
              </a:spcAft>
            </a:pPr>
            <a:endParaRPr lang="en-US" altLang="en-US" sz="1400"/>
          </a:p>
          <a:p>
            <a:pPr fontAlgn="base">
              <a:spcBef>
                <a:spcPct val="0"/>
              </a:spcBef>
              <a:spcAft>
                <a:spcPts val="600"/>
              </a:spcAft>
            </a:pPr>
            <a:r>
              <a:rPr lang="en-US" altLang="en-US" sz="1400" b="1"/>
              <a:t>Lower Final Loss:</a:t>
            </a:r>
            <a:r>
              <a:rPr lang="en-US" altLang="en-US" sz="1400"/>
              <a:t> By Epoch 10, the </a:t>
            </a:r>
            <a:r>
              <a:rPr lang="en-US" altLang="en-US" sz="1400" b="1"/>
              <a:t>CNN</a:t>
            </a:r>
            <a:r>
              <a:rPr lang="en-US" altLang="en-US" sz="1400"/>
              <a:t> achieved a substantially </a:t>
            </a:r>
            <a:r>
              <a:rPr lang="en-US" altLang="en-US" sz="1400" b="1"/>
              <a:t>lower absolute training loss</a:t>
            </a:r>
            <a:r>
              <a:rPr lang="en-US" altLang="en-US" sz="1400"/>
              <a:t> (near 0.13) than the ANN (near 0.25).</a:t>
            </a:r>
          </a:p>
          <a:p>
            <a:pPr fontAlgn="base">
              <a:spcBef>
                <a:spcPct val="0"/>
              </a:spcBef>
              <a:spcAft>
                <a:spcPts val="600"/>
              </a:spcAft>
            </a:pPr>
            <a:endParaRPr lang="en-US" altLang="en-US" sz="1400"/>
          </a:p>
          <a:p>
            <a:pPr fontAlgn="base">
              <a:spcBef>
                <a:spcPct val="0"/>
              </a:spcBef>
              <a:spcAft>
                <a:spcPts val="600"/>
              </a:spcAft>
            </a:pPr>
            <a:r>
              <a:rPr lang="en-US" altLang="en-US" sz="1400" b="1"/>
              <a:t>Superior Stability/Generalization :</a:t>
            </a:r>
            <a:r>
              <a:rPr lang="en-US" altLang="en-US" sz="1400"/>
              <a:t>  The </a:t>
            </a:r>
            <a:r>
              <a:rPr lang="en-US" altLang="en-US" sz="1400" b="1"/>
              <a:t>CNN's</a:t>
            </a:r>
            <a:r>
              <a:rPr lang="en-US" altLang="en-US" sz="1400"/>
              <a:t> Training and Validation Loss curves remained </a:t>
            </a:r>
            <a:r>
              <a:rPr lang="en-US" altLang="en-US" sz="1400" b="1"/>
              <a:t>closer together and smoother</a:t>
            </a:r>
            <a:r>
              <a:rPr lang="en-US" altLang="en-US" sz="1400"/>
              <a:t> throughout the 10 epochs, demonstrating better stability and reduced discrepancy between training performance and generalization performance.</a:t>
            </a:r>
          </a:p>
        </p:txBody>
      </p:sp>
      <p:grpSp>
        <p:nvGrpSpPr>
          <p:cNvPr id="64" name="Group 63">
            <a:extLst>
              <a:ext uri="{FF2B5EF4-FFF2-40B4-BE49-F238E27FC236}">
                <a16:creationId xmlns:a16="http://schemas.microsoft.com/office/drawing/2014/main" id="{5029B4A8-2CF0-48DC-B29E-F3B62EDDC4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65" name="Oval 64">
              <a:extLst>
                <a:ext uri="{FF2B5EF4-FFF2-40B4-BE49-F238E27FC236}">
                  <a16:creationId xmlns:a16="http://schemas.microsoft.com/office/drawing/2014/main" id="{F71DA811-F7AE-460D-9891-57F221994B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6" name="Oval 65">
              <a:extLst>
                <a:ext uri="{FF2B5EF4-FFF2-40B4-BE49-F238E27FC236}">
                  <a16:creationId xmlns:a16="http://schemas.microsoft.com/office/drawing/2014/main" id="{3747795E-BBFD-44B4-892D-2054745A8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2745591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EC78E3E1-BBBA-4058-AAEB-714F04B025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34" name="Oval 33">
              <a:extLst>
                <a:ext uri="{FF2B5EF4-FFF2-40B4-BE49-F238E27FC236}">
                  <a16:creationId xmlns:a16="http://schemas.microsoft.com/office/drawing/2014/main" id="{86860FA5-CE2B-4019-8FD1-031D7D84E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5" name="Oval 34">
              <a:extLst>
                <a:ext uri="{FF2B5EF4-FFF2-40B4-BE49-F238E27FC236}">
                  <a16:creationId xmlns:a16="http://schemas.microsoft.com/office/drawing/2014/main" id="{392DF474-2C37-4DC7-B889-E88EAADEA6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36" name="Rectangle 35">
            <a:extLst>
              <a:ext uri="{FF2B5EF4-FFF2-40B4-BE49-F238E27FC236}">
                <a16:creationId xmlns:a16="http://schemas.microsoft.com/office/drawing/2014/main" id="{1C7FF924-8DA0-4BE9-8C7E-095B0EC13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6502" y="0"/>
            <a:ext cx="6125497" cy="6857999"/>
          </a:xfrm>
          <a:prstGeom prst="rect">
            <a:avLst/>
          </a:prstGeom>
          <a:blipFill dpi="0" rotWithShape="1">
            <a:blip r:embed="rId4">
              <a:alphaModFix amt="6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graph of a graph with different colored lines&#10;&#10;AI-generated content may be incorrect.">
            <a:extLst>
              <a:ext uri="{FF2B5EF4-FFF2-40B4-BE49-F238E27FC236}">
                <a16:creationId xmlns:a16="http://schemas.microsoft.com/office/drawing/2014/main" id="{33B70F37-7933-BA39-F725-5C10C7E656F8}"/>
              </a:ext>
            </a:extLst>
          </p:cNvPr>
          <p:cNvPicPr>
            <a:picLocks noGrp="1" noChangeAspect="1"/>
          </p:cNvPicPr>
          <p:nvPr>
            <p:ph sz="half" idx="1"/>
          </p:nvPr>
        </p:nvPicPr>
        <p:blipFill>
          <a:blip r:embed="rId6"/>
          <a:stretch>
            <a:fillRect/>
          </a:stretch>
        </p:blipFill>
        <p:spPr>
          <a:xfrm>
            <a:off x="85728" y="1200149"/>
            <a:ext cx="5846164" cy="4457699"/>
          </a:xfrm>
          <a:prstGeom prst="rect">
            <a:avLst/>
          </a:prstGeom>
        </p:spPr>
      </p:pic>
      <p:sp>
        <p:nvSpPr>
          <p:cNvPr id="4" name="Content Placeholder 3">
            <a:extLst>
              <a:ext uri="{FF2B5EF4-FFF2-40B4-BE49-F238E27FC236}">
                <a16:creationId xmlns:a16="http://schemas.microsoft.com/office/drawing/2014/main" id="{C4450322-36FD-3D47-92E0-9635EFA98C3A}"/>
              </a:ext>
            </a:extLst>
          </p:cNvPr>
          <p:cNvSpPr>
            <a:spLocks noGrp="1"/>
          </p:cNvSpPr>
          <p:nvPr>
            <p:ph sz="half" idx="2"/>
          </p:nvPr>
        </p:nvSpPr>
        <p:spPr>
          <a:xfrm>
            <a:off x="6400799" y="1200157"/>
            <a:ext cx="5299585" cy="5043485"/>
          </a:xfrm>
        </p:spPr>
        <p:txBody>
          <a:bodyPr vert="horz" lIns="91440" tIns="45720" rIns="91440" bIns="45720" rtlCol="0">
            <a:normAutofit/>
          </a:bodyPr>
          <a:lstStyle/>
          <a:p>
            <a:r>
              <a:rPr lang="en-US" altLang="en-US" sz="1800" b="1" dirty="0">
                <a:latin typeface="Rockwell" panose="02060603020205020403" pitchFamily="18" charset="77"/>
              </a:rPr>
              <a:t>Higher Initial Accuracy:</a:t>
            </a:r>
            <a:r>
              <a:rPr lang="en-US" altLang="en-US" sz="1800" dirty="0">
                <a:latin typeface="Rockwell" panose="02060603020205020403" pitchFamily="18" charset="77"/>
              </a:rPr>
              <a:t> The </a:t>
            </a:r>
            <a:r>
              <a:rPr lang="en-US" altLang="en-US" sz="1800" b="1" dirty="0">
                <a:latin typeface="Rockwell" panose="02060603020205020403" pitchFamily="18" charset="77"/>
              </a:rPr>
              <a:t>CNN</a:t>
            </a:r>
            <a:r>
              <a:rPr lang="en-US" altLang="en-US" sz="1800" dirty="0">
                <a:latin typeface="Rockwell" panose="02060603020205020403" pitchFamily="18" charset="77"/>
              </a:rPr>
              <a:t> began with a </a:t>
            </a:r>
            <a:r>
              <a:rPr lang="en-US" altLang="en-US" sz="1800" b="1" dirty="0">
                <a:latin typeface="Rockwell" panose="02060603020205020403" pitchFamily="18" charset="77"/>
              </a:rPr>
              <a:t>higher initial accuracy</a:t>
            </a:r>
            <a:r>
              <a:rPr lang="en-US" altLang="en-US" sz="1800" dirty="0">
                <a:latin typeface="Rockwell" panose="02060603020205020403" pitchFamily="18" charset="77"/>
              </a:rPr>
              <a:t> at Epoch 1, establishing an early performance advantage.</a:t>
            </a:r>
          </a:p>
          <a:p>
            <a:r>
              <a:rPr lang="en-US" altLang="en-US" sz="1800" b="1" dirty="0">
                <a:latin typeface="Rockwell" panose="02060603020205020403" pitchFamily="18" charset="77"/>
              </a:rPr>
              <a:t>Rapid Accuracy Gain:</a:t>
            </a:r>
            <a:r>
              <a:rPr lang="en-US" altLang="en-US" sz="1800" dirty="0">
                <a:latin typeface="Rockwell" panose="02060603020205020403" pitchFamily="18" charset="77"/>
              </a:rPr>
              <a:t> The </a:t>
            </a:r>
            <a:r>
              <a:rPr lang="en-US" altLang="en-US" sz="1800" b="1" dirty="0">
                <a:latin typeface="Rockwell" panose="02060603020205020403" pitchFamily="18" charset="77"/>
              </a:rPr>
              <a:t>CNN's</a:t>
            </a:r>
            <a:r>
              <a:rPr lang="en-US" altLang="en-US" sz="1800" dirty="0">
                <a:latin typeface="Rockwell" panose="02060603020205020403" pitchFamily="18" charset="77"/>
              </a:rPr>
              <a:t> accuracy curves (Train and Val) demonstrate a </a:t>
            </a:r>
            <a:r>
              <a:rPr lang="en-US" altLang="en-US" sz="1800" b="1" dirty="0">
                <a:latin typeface="Rockwell" panose="02060603020205020403" pitchFamily="18" charset="77"/>
              </a:rPr>
              <a:t>much faster rate of gain</a:t>
            </a:r>
            <a:r>
              <a:rPr lang="en-US" altLang="en-US" sz="1800" dirty="0">
                <a:latin typeface="Rockwell" panose="02060603020205020403" pitchFamily="18" charset="77"/>
              </a:rPr>
              <a:t> in the early epochs, quickly surpassing the ANN's performance ceiling.</a:t>
            </a:r>
          </a:p>
          <a:p>
            <a:r>
              <a:rPr lang="en-US" altLang="en-US" sz="1800" b="1" dirty="0">
                <a:latin typeface="Rockwell" panose="02060603020205020403" pitchFamily="18" charset="77"/>
              </a:rPr>
              <a:t>Higher Final Accuracy:</a:t>
            </a:r>
            <a:r>
              <a:rPr lang="en-US" altLang="en-US" sz="1800" dirty="0">
                <a:latin typeface="Rockwell" panose="02060603020205020403" pitchFamily="18" charset="77"/>
              </a:rPr>
              <a:t> By Epoch 10, the </a:t>
            </a:r>
            <a:r>
              <a:rPr lang="en-US" altLang="en-US" sz="1800" b="1" dirty="0">
                <a:latin typeface="Rockwell" panose="02060603020205020403" pitchFamily="18" charset="77"/>
              </a:rPr>
              <a:t>CNN</a:t>
            </a:r>
            <a:r>
              <a:rPr lang="en-US" altLang="en-US" sz="1800" dirty="0">
                <a:latin typeface="Rockwell" panose="02060603020205020403" pitchFamily="18" charset="77"/>
              </a:rPr>
              <a:t> attained higher final scores in both Training Accuracy (near 0.95) and Validation Accuracy (near 0.92) than the ANN.</a:t>
            </a:r>
          </a:p>
          <a:p>
            <a:r>
              <a:rPr lang="en-US" altLang="en-US" sz="1800" b="1" dirty="0">
                <a:latin typeface="Rockwell" panose="02060603020205020403" pitchFamily="18" charset="77"/>
              </a:rPr>
              <a:t>Tighter Generalization Gap:</a:t>
            </a:r>
            <a:r>
              <a:rPr lang="en-US" altLang="en-US" sz="1800" dirty="0">
                <a:latin typeface="Rockwell" panose="02060603020205020403" pitchFamily="18" charset="77"/>
              </a:rPr>
              <a:t> The </a:t>
            </a:r>
            <a:r>
              <a:rPr lang="en-US" altLang="en-US" sz="1800" b="1" dirty="0">
                <a:latin typeface="Rockwell" panose="02060603020205020403" pitchFamily="18" charset="77"/>
              </a:rPr>
              <a:t>CNN's</a:t>
            </a:r>
            <a:r>
              <a:rPr lang="en-US" altLang="en-US" sz="1800" dirty="0">
                <a:latin typeface="Rockwell" panose="02060603020205020403" pitchFamily="18" charset="77"/>
              </a:rPr>
              <a:t> Training and Validation accuracy curves remain </a:t>
            </a:r>
            <a:r>
              <a:rPr lang="en-US" altLang="en-US" sz="1800" b="1" dirty="0">
                <a:latin typeface="Rockwell" panose="02060603020205020403" pitchFamily="18" charset="77"/>
              </a:rPr>
              <a:t>closer together</a:t>
            </a:r>
            <a:r>
              <a:rPr lang="en-US" altLang="en-US" sz="1800" dirty="0">
                <a:latin typeface="Rockwell" panose="02060603020205020403" pitchFamily="18" charset="77"/>
              </a:rPr>
              <a:t>, confirming its enhanced generalization ability and lower risk of overfitting compared to the ANN.</a:t>
            </a:r>
          </a:p>
          <a:p>
            <a:endParaRPr lang="en-US" sz="1800" dirty="0">
              <a:latin typeface="Rockwell" panose="02060603020205020403" pitchFamily="18" charset="77"/>
            </a:endParaRPr>
          </a:p>
        </p:txBody>
      </p:sp>
      <p:grpSp>
        <p:nvGrpSpPr>
          <p:cNvPr id="37" name="Group 36">
            <a:extLst>
              <a:ext uri="{FF2B5EF4-FFF2-40B4-BE49-F238E27FC236}">
                <a16:creationId xmlns:a16="http://schemas.microsoft.com/office/drawing/2014/main" id="{5029B4A8-2CF0-48DC-B29E-F3B62EDDC4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9" name="Oval 18">
              <a:extLst>
                <a:ext uri="{FF2B5EF4-FFF2-40B4-BE49-F238E27FC236}">
                  <a16:creationId xmlns:a16="http://schemas.microsoft.com/office/drawing/2014/main" id="{F71DA811-F7AE-460D-9891-57F221994B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8" name="Oval 37">
              <a:extLst>
                <a:ext uri="{FF2B5EF4-FFF2-40B4-BE49-F238E27FC236}">
                  <a16:creationId xmlns:a16="http://schemas.microsoft.com/office/drawing/2014/main" id="{3747795E-BBFD-44B4-892D-2054745A8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4019756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6DBFAD4-B5FC-442B-A283-381B01B195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2" name="Oval 11">
              <a:extLst>
                <a:ext uri="{FF2B5EF4-FFF2-40B4-BE49-F238E27FC236}">
                  <a16:creationId xmlns:a16="http://schemas.microsoft.com/office/drawing/2014/main" id="{9B649DC7-8769-4383-A6F2-8F366BA7A1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3" name="Oval 12">
              <a:extLst>
                <a:ext uri="{FF2B5EF4-FFF2-40B4-BE49-F238E27FC236}">
                  <a16:creationId xmlns:a16="http://schemas.microsoft.com/office/drawing/2014/main" id="{0C67FD53-2686-4E0E-BA49-976F78F9A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
        <p:nvSpPr>
          <p:cNvPr id="2" name="Title 1">
            <a:extLst>
              <a:ext uri="{FF2B5EF4-FFF2-40B4-BE49-F238E27FC236}">
                <a16:creationId xmlns:a16="http://schemas.microsoft.com/office/drawing/2014/main" id="{414A8F65-1546-C25D-1AF7-44C3167A2E93}"/>
              </a:ext>
            </a:extLst>
          </p:cNvPr>
          <p:cNvSpPr>
            <a:spLocks noGrp="1"/>
          </p:cNvSpPr>
          <p:nvPr>
            <p:ph type="title"/>
          </p:nvPr>
        </p:nvSpPr>
        <p:spPr>
          <a:xfrm>
            <a:off x="7865806" y="484632"/>
            <a:ext cx="3677264" cy="1609344"/>
          </a:xfrm>
        </p:spPr>
        <p:txBody>
          <a:bodyPr vert="horz" lIns="91440" tIns="45720" rIns="91440" bIns="45720" rtlCol="0" anchor="ctr">
            <a:normAutofit/>
          </a:bodyPr>
          <a:lstStyle/>
          <a:p>
            <a:r>
              <a:rPr lang="en-US" sz="3600" dirty="0"/>
              <a:t>Similar classes confusion matrix : ANN</a:t>
            </a:r>
          </a:p>
        </p:txBody>
      </p:sp>
      <p:pic>
        <p:nvPicPr>
          <p:cNvPr id="6" name="Content Placeholder 5" descr="A screenshot of a graph&#10;&#10;AI-generated content may be incorrect.">
            <a:extLst>
              <a:ext uri="{FF2B5EF4-FFF2-40B4-BE49-F238E27FC236}">
                <a16:creationId xmlns:a16="http://schemas.microsoft.com/office/drawing/2014/main" id="{766BCBE3-A2FC-C290-5DCF-3400F8866F5E}"/>
              </a:ext>
            </a:extLst>
          </p:cNvPr>
          <p:cNvPicPr>
            <a:picLocks noGrp="1" noChangeAspect="1"/>
          </p:cNvPicPr>
          <p:nvPr>
            <p:ph sz="half" idx="1"/>
          </p:nvPr>
        </p:nvPicPr>
        <p:blipFill>
          <a:blip r:embed="rId4"/>
          <a:srcRect r="3" b="3473"/>
          <a:stretch>
            <a:fillRect/>
          </a:stretch>
        </p:blipFill>
        <p:spPr>
          <a:xfrm>
            <a:off x="213383" y="300038"/>
            <a:ext cx="7370799" cy="5958836"/>
          </a:xfrm>
          <a:prstGeom prst="rect">
            <a:avLst/>
          </a:prstGeom>
        </p:spPr>
      </p:pic>
      <p:sp>
        <p:nvSpPr>
          <p:cNvPr id="4" name="Content Placeholder 3">
            <a:extLst>
              <a:ext uri="{FF2B5EF4-FFF2-40B4-BE49-F238E27FC236}">
                <a16:creationId xmlns:a16="http://schemas.microsoft.com/office/drawing/2014/main" id="{6C04B082-BA09-B1C0-D1E2-4594D3ECBA0F}"/>
              </a:ext>
            </a:extLst>
          </p:cNvPr>
          <p:cNvSpPr>
            <a:spLocks noGrp="1"/>
          </p:cNvSpPr>
          <p:nvPr>
            <p:ph sz="half" idx="2"/>
          </p:nvPr>
        </p:nvSpPr>
        <p:spPr>
          <a:xfrm>
            <a:off x="7865805" y="2121408"/>
            <a:ext cx="3821370" cy="4736592"/>
          </a:xfrm>
        </p:spPr>
        <p:txBody>
          <a:bodyPr vert="horz" lIns="91440" tIns="45720" rIns="91440" bIns="45720" rtlCol="0">
            <a:normAutofit fontScale="92500" lnSpcReduction="20000"/>
          </a:bodyPr>
          <a:lstStyle/>
          <a:p>
            <a:r>
              <a:rPr lang="en-US" altLang="en-US" sz="1600" b="1" dirty="0">
                <a:latin typeface="Rockwell" panose="02060603020205020403" pitchFamily="18" charset="77"/>
              </a:rPr>
              <a:t>Significant Off-Diagonal Errors:</a:t>
            </a:r>
            <a:r>
              <a:rPr lang="en-US" altLang="en-US" sz="1600" dirty="0">
                <a:latin typeface="Rockwell" panose="02060603020205020403" pitchFamily="18" charset="77"/>
              </a:rPr>
              <a:t> The matrix clearly shows the ANN struggles to accurately classify similar items, resulting in high misclassification counts away from the main diagonal.</a:t>
            </a:r>
          </a:p>
          <a:p>
            <a:r>
              <a:rPr lang="en-US" altLang="en-US" sz="1600" b="1" dirty="0">
                <a:latin typeface="Rockwell" panose="02060603020205020403" pitchFamily="18" charset="77"/>
              </a:rPr>
              <a:t>Coat vs. Pullover Confusion:</a:t>
            </a:r>
            <a:r>
              <a:rPr lang="en-US" altLang="en-US" sz="1600" dirty="0">
                <a:latin typeface="Rockwell" panose="02060603020205020403" pitchFamily="18" charset="77"/>
              </a:rPr>
              <a:t> A major failure point is observed where </a:t>
            </a:r>
            <a:r>
              <a:rPr lang="en-US" altLang="en-US" sz="1600" b="1" dirty="0">
                <a:latin typeface="Rockwell" panose="02060603020205020403" pitchFamily="18" charset="77"/>
              </a:rPr>
              <a:t>103 true Coats were incorrectly predicted as Pullovers</a:t>
            </a:r>
            <a:r>
              <a:rPr lang="en-US" altLang="en-US" sz="1600" dirty="0">
                <a:latin typeface="Rockwell" panose="02060603020205020403" pitchFamily="18" charset="77"/>
              </a:rPr>
              <a:t>. Similarly, </a:t>
            </a:r>
            <a:r>
              <a:rPr lang="en-US" altLang="en-US" sz="1600" b="1" dirty="0">
                <a:latin typeface="Rockwell" panose="02060603020205020403" pitchFamily="18" charset="77"/>
              </a:rPr>
              <a:t>84 true Pullovers were misclassified as Coats</a:t>
            </a:r>
            <a:r>
              <a:rPr lang="en-US" altLang="en-US" sz="1600" dirty="0">
                <a:latin typeface="Rockwell" panose="02060603020205020403" pitchFamily="18" charset="77"/>
              </a:rPr>
              <a:t>.</a:t>
            </a:r>
          </a:p>
          <a:p>
            <a:r>
              <a:rPr lang="en-US" altLang="en-US" sz="1600" b="1" dirty="0">
                <a:latin typeface="Rockwell" panose="02060603020205020403" pitchFamily="18" charset="77"/>
              </a:rPr>
              <a:t>Shirt/Top Ambiguity:</a:t>
            </a:r>
            <a:r>
              <a:rPr lang="en-US" altLang="en-US" sz="1600" dirty="0">
                <a:latin typeface="Rockwell" panose="02060603020205020403" pitchFamily="18" charset="77"/>
              </a:rPr>
              <a:t> The ANN frequently fails to distinguish between different types of upper wear, demonstrated by </a:t>
            </a:r>
            <a:r>
              <a:rPr lang="en-US" altLang="en-US" sz="1600" b="1" dirty="0">
                <a:latin typeface="Rockwell" panose="02060603020205020403" pitchFamily="18" charset="77"/>
              </a:rPr>
              <a:t>148 true Shirts being incorrectly labeled as T-shirt/tops</a:t>
            </a:r>
            <a:r>
              <a:rPr lang="en-US" altLang="en-US" sz="1600" dirty="0">
                <a:latin typeface="Rockwell" panose="02060603020205020403" pitchFamily="18" charset="77"/>
              </a:rPr>
              <a:t>.</a:t>
            </a:r>
          </a:p>
          <a:p>
            <a:r>
              <a:rPr lang="en-US" altLang="en-US" sz="1600" b="1" dirty="0">
                <a:latin typeface="Rockwell" panose="02060603020205020403" pitchFamily="18" charset="77"/>
              </a:rPr>
              <a:t>The Verdict:</a:t>
            </a:r>
            <a:r>
              <a:rPr lang="en-US" altLang="en-US" sz="1600" dirty="0">
                <a:latin typeface="Rockwell" panose="02060603020205020403" pitchFamily="18" charset="77"/>
              </a:rPr>
              <a:t> Since the ANN flattens the input, it is blind to critical local features (like collar shape or sleeve cuffs), which results in high confusion rates among these visually similar apparel categories.</a:t>
            </a:r>
          </a:p>
          <a:p>
            <a:endParaRPr lang="en-US" sz="1600" dirty="0">
              <a:latin typeface="Rockwell" panose="02060603020205020403" pitchFamily="18" charset="77"/>
            </a:endParaRPr>
          </a:p>
        </p:txBody>
      </p:sp>
    </p:spTree>
    <p:extLst>
      <p:ext uri="{BB962C8B-B14F-4D97-AF65-F5344CB8AC3E}">
        <p14:creationId xmlns:p14="http://schemas.microsoft.com/office/powerpoint/2010/main" val="3461112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EC78E3E1-BBBA-4058-AAEB-714F04B025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2" name="Oval 21">
              <a:extLst>
                <a:ext uri="{FF2B5EF4-FFF2-40B4-BE49-F238E27FC236}">
                  <a16:creationId xmlns:a16="http://schemas.microsoft.com/office/drawing/2014/main" id="{86860FA5-CE2B-4019-8FD1-031D7D84E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3" name="Oval 22">
              <a:extLst>
                <a:ext uri="{FF2B5EF4-FFF2-40B4-BE49-F238E27FC236}">
                  <a16:creationId xmlns:a16="http://schemas.microsoft.com/office/drawing/2014/main" id="{392DF474-2C37-4DC7-B889-E88EAADEA6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180BD6FF-381F-640C-D23C-DD89A9A2EB7D}"/>
              </a:ext>
            </a:extLst>
          </p:cNvPr>
          <p:cNvSpPr>
            <a:spLocks noGrp="1"/>
          </p:cNvSpPr>
          <p:nvPr>
            <p:ph type="title"/>
          </p:nvPr>
        </p:nvSpPr>
        <p:spPr>
          <a:xfrm>
            <a:off x="7865806" y="170296"/>
            <a:ext cx="3677264" cy="1609344"/>
          </a:xfrm>
        </p:spPr>
        <p:txBody>
          <a:bodyPr vert="horz" lIns="91440" tIns="45720" rIns="91440" bIns="45720" rtlCol="0" anchor="ctr">
            <a:normAutofit/>
          </a:bodyPr>
          <a:lstStyle/>
          <a:p>
            <a:r>
              <a:rPr lang="en-US" sz="3600" dirty="0"/>
              <a:t>Similar classes confusion matrix: CNN</a:t>
            </a:r>
          </a:p>
        </p:txBody>
      </p:sp>
      <p:pic>
        <p:nvPicPr>
          <p:cNvPr id="6" name="Content Placeholder 5" descr="A diagram of clothing with red squares&#10;&#10;AI-generated content may be incorrect.">
            <a:extLst>
              <a:ext uri="{FF2B5EF4-FFF2-40B4-BE49-F238E27FC236}">
                <a16:creationId xmlns:a16="http://schemas.microsoft.com/office/drawing/2014/main" id="{562F1DF5-88D2-16C8-B972-88B0FE259A5A}"/>
              </a:ext>
            </a:extLst>
          </p:cNvPr>
          <p:cNvPicPr>
            <a:picLocks noGrp="1" noChangeAspect="1"/>
          </p:cNvPicPr>
          <p:nvPr>
            <p:ph sz="half" idx="1"/>
          </p:nvPr>
        </p:nvPicPr>
        <p:blipFill>
          <a:blip r:embed="rId4"/>
          <a:stretch>
            <a:fillRect/>
          </a:stretch>
        </p:blipFill>
        <p:spPr>
          <a:xfrm>
            <a:off x="236804" y="242888"/>
            <a:ext cx="7420971" cy="6215062"/>
          </a:xfrm>
          <a:prstGeom prst="rect">
            <a:avLst/>
          </a:prstGeom>
        </p:spPr>
      </p:pic>
      <p:sp>
        <p:nvSpPr>
          <p:cNvPr id="4" name="Content Placeholder 3">
            <a:extLst>
              <a:ext uri="{FF2B5EF4-FFF2-40B4-BE49-F238E27FC236}">
                <a16:creationId xmlns:a16="http://schemas.microsoft.com/office/drawing/2014/main" id="{E9198714-DF38-5A99-8C52-A66B67C92B2B}"/>
              </a:ext>
            </a:extLst>
          </p:cNvPr>
          <p:cNvSpPr>
            <a:spLocks noGrp="1"/>
          </p:cNvSpPr>
          <p:nvPr>
            <p:ph sz="half" idx="2"/>
          </p:nvPr>
        </p:nvSpPr>
        <p:spPr>
          <a:xfrm>
            <a:off x="7865804" y="1779642"/>
            <a:ext cx="4089391" cy="5078358"/>
          </a:xfrm>
        </p:spPr>
        <p:txBody>
          <a:bodyPr vert="horz" lIns="91440" tIns="45720" rIns="91440" bIns="45720" rtlCol="0">
            <a:normAutofit fontScale="92500" lnSpcReduction="10000"/>
          </a:bodyPr>
          <a:lstStyle/>
          <a:p>
            <a:r>
              <a:rPr lang="en-US" altLang="en-US" sz="1600" b="1" dirty="0">
                <a:latin typeface="Rockwell" panose="02060603020205020403" pitchFamily="18" charset="77"/>
              </a:rPr>
              <a:t>A Cleaner Diagonal:</a:t>
            </a:r>
            <a:r>
              <a:rPr lang="en-US" altLang="en-US" sz="1600" dirty="0">
                <a:latin typeface="Rockwell" panose="02060603020205020403" pitchFamily="18" charset="77"/>
              </a:rPr>
              <a:t> The CNN matrix shows a significantly </a:t>
            </a:r>
            <a:r>
              <a:rPr lang="en-US" altLang="en-US" sz="1600" b="1" dirty="0">
                <a:latin typeface="Rockwell" panose="02060603020205020403" pitchFamily="18" charset="77"/>
              </a:rPr>
              <a:t>darker and cleaner diagonal</a:t>
            </a:r>
            <a:r>
              <a:rPr lang="en-US" altLang="en-US" sz="1600" dirty="0">
                <a:latin typeface="Rockwell" panose="02060603020205020403" pitchFamily="18" charset="77"/>
              </a:rPr>
              <a:t> compared to the ANN, indicating that the model made the correct prediction much more frequently across all categories.</a:t>
            </a:r>
          </a:p>
          <a:p>
            <a:r>
              <a:rPr lang="en-US" altLang="en-US" sz="1600" b="1" dirty="0">
                <a:latin typeface="Rockwell" panose="02060603020205020403" pitchFamily="18" charset="77"/>
              </a:rPr>
              <a:t>Reduced Cross-Category Confusion:</a:t>
            </a:r>
            <a:r>
              <a:rPr lang="en-US" altLang="en-US" sz="1600" dirty="0">
                <a:latin typeface="Rockwell" panose="02060603020205020403" pitchFamily="18" charset="77"/>
              </a:rPr>
              <a:t> The most critical improvements are seen in the previous problem areas:</a:t>
            </a:r>
          </a:p>
          <a:p>
            <a:pPr lvl="1"/>
            <a:r>
              <a:rPr lang="en-US" altLang="en-US" sz="1400" dirty="0">
                <a:latin typeface="Rockwell" panose="02060603020205020403" pitchFamily="18" charset="77"/>
              </a:rPr>
              <a:t>The misclassification of </a:t>
            </a:r>
            <a:r>
              <a:rPr lang="en-US" altLang="en-US" sz="1400" b="1" dirty="0">
                <a:latin typeface="Rockwell" panose="02060603020205020403" pitchFamily="18" charset="77"/>
              </a:rPr>
              <a:t>Coats as Pullovers</a:t>
            </a:r>
            <a:r>
              <a:rPr lang="en-US" altLang="en-US" sz="1400" dirty="0">
                <a:latin typeface="Rockwell" panose="02060603020205020403" pitchFamily="18" charset="77"/>
              </a:rPr>
              <a:t> dropped substantially, from 103 errors (in the ANN) down to </a:t>
            </a:r>
            <a:r>
              <a:rPr lang="en-US" altLang="en-US" sz="1400" b="1" dirty="0">
                <a:latin typeface="Rockwell" panose="02060603020205020403" pitchFamily="18" charset="77"/>
              </a:rPr>
              <a:t>68</a:t>
            </a:r>
            <a:r>
              <a:rPr lang="en-US" altLang="en-US" sz="1400" dirty="0">
                <a:latin typeface="Rockwell" panose="02060603020205020403" pitchFamily="18" charset="77"/>
              </a:rPr>
              <a:t>.</a:t>
            </a:r>
          </a:p>
          <a:p>
            <a:pPr lvl="1"/>
            <a:r>
              <a:rPr lang="en-US" altLang="en-US" sz="1600" dirty="0">
                <a:latin typeface="Rockwell" panose="02060603020205020403" pitchFamily="18" charset="77"/>
              </a:rPr>
              <a:t>The misclassification of </a:t>
            </a:r>
            <a:r>
              <a:rPr lang="en-US" altLang="en-US" sz="1600" b="1" dirty="0">
                <a:latin typeface="Rockwell" panose="02060603020205020403" pitchFamily="18" charset="77"/>
              </a:rPr>
              <a:t>Shirts as Pullovers</a:t>
            </a:r>
            <a:r>
              <a:rPr lang="en-US" altLang="en-US" sz="1600" dirty="0">
                <a:latin typeface="Rockwell" panose="02060603020205020403" pitchFamily="18" charset="77"/>
              </a:rPr>
              <a:t> also saw a reduction from 99 errors to </a:t>
            </a:r>
            <a:r>
              <a:rPr lang="en-US" altLang="en-US" sz="1600" b="1" dirty="0">
                <a:latin typeface="Rockwell" panose="02060603020205020403" pitchFamily="18" charset="77"/>
              </a:rPr>
              <a:t>90</a:t>
            </a:r>
            <a:r>
              <a:rPr lang="en-US" altLang="en-US" sz="1600" dirty="0">
                <a:latin typeface="Rockwell" panose="02060603020205020403" pitchFamily="18" charset="77"/>
              </a:rPr>
              <a:t>.</a:t>
            </a:r>
          </a:p>
          <a:p>
            <a:pPr eaLnBrk="0" fontAlgn="base" hangingPunct="0">
              <a:lnSpc>
                <a:spcPct val="100000"/>
              </a:lnSpc>
              <a:spcBef>
                <a:spcPct val="0"/>
              </a:spcBef>
              <a:spcAft>
                <a:spcPct val="0"/>
              </a:spcAft>
              <a:buClrTx/>
              <a:buSzTx/>
            </a:pPr>
            <a:r>
              <a:rPr lang="en-US" altLang="en-US" sz="1600" b="1" dirty="0">
                <a:latin typeface="Rockwell" panose="02060603020205020403" pitchFamily="18" charset="77"/>
              </a:rPr>
              <a:t>The Power of Spatial Data:</a:t>
            </a:r>
            <a:r>
              <a:rPr lang="en-US" altLang="en-US" sz="1600" dirty="0">
                <a:latin typeface="Rockwell" panose="02060603020205020403" pitchFamily="18" charset="77"/>
              </a:rPr>
              <a:t> This direct comparison demonstrates that the CNN's ability to extract </a:t>
            </a:r>
            <a:r>
              <a:rPr lang="en-US" altLang="en-US" sz="1600" b="1" dirty="0">
                <a:latin typeface="Rockwell" panose="02060603020205020403" pitchFamily="18" charset="77"/>
              </a:rPr>
              <a:t>spatial, hierarchical features</a:t>
            </a:r>
            <a:r>
              <a:rPr lang="en-US" altLang="en-US" sz="1600" dirty="0">
                <a:latin typeface="Rockwell" panose="02060603020205020403" pitchFamily="18" charset="77"/>
              </a:rPr>
              <a:t> allows it to learn the subtle visual differences (like a collar vs. a rounded neck) needed to achieve reliable separation between highly similar apparel items.</a:t>
            </a:r>
          </a:p>
          <a:p>
            <a:endParaRPr lang="en-US" sz="1600" dirty="0">
              <a:latin typeface="Rockwell" panose="02060603020205020403" pitchFamily="18" charset="77"/>
            </a:endParaRPr>
          </a:p>
        </p:txBody>
      </p:sp>
    </p:spTree>
    <p:extLst>
      <p:ext uri="{BB962C8B-B14F-4D97-AF65-F5344CB8AC3E}">
        <p14:creationId xmlns:p14="http://schemas.microsoft.com/office/powerpoint/2010/main" val="4283970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EC78E3E1-BBBA-4058-AAEB-714F04B025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2" name="Oval 11">
              <a:extLst>
                <a:ext uri="{FF2B5EF4-FFF2-40B4-BE49-F238E27FC236}">
                  <a16:creationId xmlns:a16="http://schemas.microsoft.com/office/drawing/2014/main" id="{86860FA5-CE2B-4019-8FD1-031D7D84E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392DF474-2C37-4DC7-B889-E88EAADEA6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43851DF5-7625-3F3A-0184-F41F2B9DB17B}"/>
              </a:ext>
            </a:extLst>
          </p:cNvPr>
          <p:cNvSpPr>
            <a:spLocks noGrp="1"/>
          </p:cNvSpPr>
          <p:nvPr>
            <p:ph type="title"/>
          </p:nvPr>
        </p:nvSpPr>
        <p:spPr>
          <a:xfrm>
            <a:off x="7865806" y="484632"/>
            <a:ext cx="3677264" cy="1609344"/>
          </a:xfrm>
        </p:spPr>
        <p:txBody>
          <a:bodyPr vert="horz" lIns="91440" tIns="45720" rIns="91440" bIns="45720" rtlCol="0" anchor="ctr">
            <a:normAutofit/>
          </a:bodyPr>
          <a:lstStyle/>
          <a:p>
            <a:r>
              <a:rPr lang="en-US" sz="3600"/>
              <a:t>Predictions and SUmmary</a:t>
            </a:r>
          </a:p>
        </p:txBody>
      </p:sp>
      <p:pic>
        <p:nvPicPr>
          <p:cNvPr id="6" name="Content Placeholder 5">
            <a:extLst>
              <a:ext uri="{FF2B5EF4-FFF2-40B4-BE49-F238E27FC236}">
                <a16:creationId xmlns:a16="http://schemas.microsoft.com/office/drawing/2014/main" id="{AB485AAA-58EF-8416-7934-D861FF5334AE}"/>
              </a:ext>
            </a:extLst>
          </p:cNvPr>
          <p:cNvPicPr>
            <a:picLocks noGrp="1" noChangeAspect="1"/>
          </p:cNvPicPr>
          <p:nvPr>
            <p:ph sz="half" idx="1"/>
          </p:nvPr>
        </p:nvPicPr>
        <p:blipFill>
          <a:blip r:embed="rId4"/>
          <a:stretch>
            <a:fillRect/>
          </a:stretch>
        </p:blipFill>
        <p:spPr>
          <a:xfrm>
            <a:off x="633999" y="850689"/>
            <a:ext cx="6912217" cy="5166882"/>
          </a:xfrm>
          <a:prstGeom prst="rect">
            <a:avLst/>
          </a:prstGeom>
        </p:spPr>
      </p:pic>
      <p:sp>
        <p:nvSpPr>
          <p:cNvPr id="4" name="Content Placeholder 3">
            <a:extLst>
              <a:ext uri="{FF2B5EF4-FFF2-40B4-BE49-F238E27FC236}">
                <a16:creationId xmlns:a16="http://schemas.microsoft.com/office/drawing/2014/main" id="{41A8735E-DCF2-A3B4-F44D-DDED2A68E1DC}"/>
              </a:ext>
            </a:extLst>
          </p:cNvPr>
          <p:cNvSpPr>
            <a:spLocks noGrp="1"/>
          </p:cNvSpPr>
          <p:nvPr>
            <p:ph sz="half" idx="2"/>
          </p:nvPr>
        </p:nvSpPr>
        <p:spPr>
          <a:xfrm>
            <a:off x="7865805" y="2121408"/>
            <a:ext cx="3677263" cy="4092579"/>
          </a:xfrm>
        </p:spPr>
        <p:txBody>
          <a:bodyPr vert="horz" lIns="91440" tIns="45720" rIns="91440" bIns="45720" rtlCol="0">
            <a:normAutofit/>
          </a:bodyPr>
          <a:lstStyle/>
          <a:p>
            <a:r>
              <a:rPr lang="en-US" sz="1200" b="1"/>
              <a:t>Accuracy Win:</a:t>
            </a:r>
            <a:r>
              <a:rPr lang="en-US" sz="1200"/>
              <a:t> The CNN achieved a </a:t>
            </a:r>
            <a:r>
              <a:rPr lang="en-US" sz="1200" b="1"/>
              <a:t>Test Accuracy of 91.25%</a:t>
            </a:r>
            <a:r>
              <a:rPr lang="en-US" sz="1200"/>
              <a:t>, establishing a significant and robust performance gap over the ANN's 87.57%.</a:t>
            </a:r>
          </a:p>
          <a:p>
            <a:r>
              <a:rPr lang="en-US" sz="1200" b="1"/>
              <a:t>Model Stability:</a:t>
            </a:r>
            <a:r>
              <a:rPr lang="en-US" sz="1200"/>
              <a:t> The convergence plots confirmed the CNN's superior generalization by showing </a:t>
            </a:r>
            <a:r>
              <a:rPr lang="en-US" sz="1200" b="1"/>
              <a:t>faster learning</a:t>
            </a:r>
            <a:r>
              <a:rPr lang="en-US" sz="1200"/>
              <a:t> and a </a:t>
            </a:r>
            <a:r>
              <a:rPr lang="en-US" sz="1200" b="1"/>
              <a:t>tighter, more stable margin</a:t>
            </a:r>
            <a:r>
              <a:rPr lang="en-US" sz="1200"/>
              <a:t> between its training and validation curves.</a:t>
            </a:r>
          </a:p>
          <a:p>
            <a:r>
              <a:rPr lang="en-US" sz="1200" b="1"/>
              <a:t>Classification Specificity:</a:t>
            </a:r>
            <a:r>
              <a:rPr lang="en-US" sz="1200"/>
              <a:t> The confusion matrices proved the CNN's ability to learn </a:t>
            </a:r>
            <a:r>
              <a:rPr lang="en-US" sz="1200" b="1"/>
              <a:t>subtle spatial cues</a:t>
            </a:r>
            <a:r>
              <a:rPr lang="en-US" sz="1200"/>
              <a:t>, leading to a sharp reduction in misclassifications between highly similar items.</a:t>
            </a:r>
          </a:p>
          <a:p>
            <a:r>
              <a:rPr lang="en-US" sz="1200" b="1"/>
              <a:t>Reliable Confidence:</a:t>
            </a:r>
            <a:r>
              <a:rPr lang="en-US" sz="1200"/>
              <a:t> The CNN consistently provided </a:t>
            </a:r>
            <a:r>
              <a:rPr lang="en-US" sz="1200" b="1"/>
              <a:t>higher prediction confidence scores</a:t>
            </a:r>
            <a:r>
              <a:rPr lang="en-US" sz="1200"/>
              <a:t> for correct answers, indicating a more reliable and less volatile decision mechanism.</a:t>
            </a:r>
          </a:p>
          <a:p>
            <a:endParaRPr lang="en-US" sz="1200"/>
          </a:p>
        </p:txBody>
      </p:sp>
    </p:spTree>
    <p:extLst>
      <p:ext uri="{BB962C8B-B14F-4D97-AF65-F5344CB8AC3E}">
        <p14:creationId xmlns:p14="http://schemas.microsoft.com/office/powerpoint/2010/main" val="4211331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91736-0A76-C50F-6778-9DD6699BBED2}"/>
              </a:ext>
            </a:extLst>
          </p:cNvPr>
          <p:cNvSpPr>
            <a:spLocks noGrp="1"/>
          </p:cNvSpPr>
          <p:nvPr>
            <p:ph type="title"/>
          </p:nvPr>
        </p:nvSpPr>
        <p:spPr/>
        <p:txBody>
          <a:bodyPr/>
          <a:lstStyle/>
          <a:p>
            <a:r>
              <a:rPr lang="en-US" dirty="0"/>
              <a:t>Conclusion and Future work</a:t>
            </a:r>
          </a:p>
        </p:txBody>
      </p:sp>
      <p:sp>
        <p:nvSpPr>
          <p:cNvPr id="3" name="Content Placeholder 2">
            <a:extLst>
              <a:ext uri="{FF2B5EF4-FFF2-40B4-BE49-F238E27FC236}">
                <a16:creationId xmlns:a16="http://schemas.microsoft.com/office/drawing/2014/main" id="{1790E763-978A-EBB1-FAA1-AD890DD523BB}"/>
              </a:ext>
            </a:extLst>
          </p:cNvPr>
          <p:cNvSpPr>
            <a:spLocks noGrp="1"/>
          </p:cNvSpPr>
          <p:nvPr>
            <p:ph idx="1"/>
          </p:nvPr>
        </p:nvSpPr>
        <p:spPr>
          <a:xfrm>
            <a:off x="1069848" y="1900238"/>
            <a:ext cx="10058400" cy="4271962"/>
          </a:xfrm>
        </p:spPr>
        <p:txBody>
          <a:bodyPr>
            <a:normAutofit/>
          </a:bodyPr>
          <a:lstStyle/>
          <a:p>
            <a:r>
              <a:rPr lang="en-IN" b="1" dirty="0"/>
              <a:t>Conclusion</a:t>
            </a:r>
          </a:p>
          <a:p>
            <a:pPr marL="274320" lvl="1" indent="0">
              <a:buNone/>
            </a:pPr>
            <a:r>
              <a:rPr lang="en-IN" dirty="0"/>
              <a:t>It is </a:t>
            </a:r>
            <a:r>
              <a:rPr lang="en-IN" b="1" dirty="0"/>
              <a:t>unquestionable</a:t>
            </a:r>
            <a:r>
              <a:rPr lang="en-IN" dirty="0"/>
              <a:t> that the CNN architecture is superior for this visual classification task. The CNN's inherent ability to </a:t>
            </a:r>
            <a:r>
              <a:rPr lang="en-IN" b="1" dirty="0"/>
              <a:t>automatically learn spatial features</a:t>
            </a:r>
            <a:r>
              <a:rPr lang="en-IN" dirty="0"/>
              <a:t> and hierarchical patterns is the definitive key to its increased accuracy, stability, and overall robustness compared to the general-purpose ANN. The CNN should be the </a:t>
            </a:r>
            <a:r>
              <a:rPr lang="en-IN" b="1" dirty="0"/>
              <a:t>standard baseline model</a:t>
            </a:r>
            <a:r>
              <a:rPr lang="en-IN" dirty="0"/>
              <a:t> for deployment.</a:t>
            </a:r>
          </a:p>
          <a:p>
            <a:r>
              <a:rPr lang="en-IN" b="1" dirty="0"/>
              <a:t>Recommendation &amp; Future Work</a:t>
            </a:r>
          </a:p>
          <a:p>
            <a:pPr marL="274320" lvl="1" indent="0">
              <a:buNone/>
            </a:pPr>
            <a:r>
              <a:rPr lang="en-IN" dirty="0"/>
              <a:t>While the baseline CNN is strong, optimization can yield further gains:</a:t>
            </a:r>
          </a:p>
          <a:p>
            <a:pPr lvl="1"/>
            <a:r>
              <a:rPr lang="en-IN" b="1" dirty="0"/>
              <a:t>Immediate Focus:</a:t>
            </a:r>
            <a:r>
              <a:rPr lang="en-IN" dirty="0"/>
              <a:t> Implement common regularization techniques like </a:t>
            </a:r>
            <a:r>
              <a:rPr lang="en-IN" b="1" dirty="0"/>
              <a:t>Dropout</a:t>
            </a:r>
            <a:r>
              <a:rPr lang="en-IN" dirty="0"/>
              <a:t> within the dense layers to test for further generalization stability.</a:t>
            </a:r>
          </a:p>
          <a:p>
            <a:pPr lvl="1"/>
            <a:r>
              <a:rPr lang="en-IN" b="1" dirty="0"/>
              <a:t>Architectural Exploration:</a:t>
            </a:r>
            <a:r>
              <a:rPr lang="en-IN" dirty="0"/>
              <a:t> Experiment with </a:t>
            </a:r>
            <a:r>
              <a:rPr lang="en-IN" b="1" dirty="0"/>
              <a:t>deeper convolutional blocks</a:t>
            </a:r>
            <a:r>
              <a:rPr lang="en-IN" dirty="0"/>
              <a:t> or alternative filter sizes (depth and width) to capture even more complex features.</a:t>
            </a:r>
          </a:p>
          <a:p>
            <a:pPr lvl="1"/>
            <a:r>
              <a:rPr lang="en-IN" b="1" dirty="0"/>
              <a:t>Hyperparameter Tuning:</a:t>
            </a:r>
            <a:r>
              <a:rPr lang="en-IN" dirty="0"/>
              <a:t> Fine-tune parameters like the learning rate or batch size to potentially achieve quicker convergence and higher peak accuracy.</a:t>
            </a:r>
          </a:p>
          <a:p>
            <a:pPr marL="0" indent="0">
              <a:buNone/>
            </a:pPr>
            <a:endParaRPr lang="en-US" dirty="0"/>
          </a:p>
        </p:txBody>
      </p:sp>
    </p:spTree>
    <p:extLst>
      <p:ext uri="{BB962C8B-B14F-4D97-AF65-F5344CB8AC3E}">
        <p14:creationId xmlns:p14="http://schemas.microsoft.com/office/powerpoint/2010/main" val="2628798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3" name="Group 12">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4" name="Oval 13">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5" name="Oval 14">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sp>
        <p:nvSpPr>
          <p:cNvPr id="17" name="Rectangle 16">
            <a:extLst>
              <a:ext uri="{FF2B5EF4-FFF2-40B4-BE49-F238E27FC236}">
                <a16:creationId xmlns:a16="http://schemas.microsoft.com/office/drawing/2014/main" id="{48FDEBDB-5859-4B9E-8810-2C5CFED093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B5BBC5-00D3-2C35-3474-01E693CE645D}"/>
              </a:ext>
            </a:extLst>
          </p:cNvPr>
          <p:cNvSpPr>
            <a:spLocks noGrp="1"/>
          </p:cNvSpPr>
          <p:nvPr>
            <p:ph type="title"/>
          </p:nvPr>
        </p:nvSpPr>
        <p:spPr>
          <a:xfrm>
            <a:off x="1051560" y="942975"/>
            <a:ext cx="9966960" cy="3525056"/>
          </a:xfrm>
        </p:spPr>
        <p:txBody>
          <a:bodyPr vert="horz" lIns="91440" tIns="45720" rIns="91440" bIns="45720" rtlCol="0" anchor="b">
            <a:normAutofit/>
          </a:bodyPr>
          <a:lstStyle/>
          <a:p>
            <a:pPr algn="ctr">
              <a:lnSpc>
                <a:spcPct val="80000"/>
              </a:lnSpc>
            </a:pPr>
            <a:r>
              <a:rPr lang="en-US" sz="9600" dirty="0">
                <a:solidFill>
                  <a:srgbClr val="FFFFFF"/>
                </a:solidFill>
              </a:rPr>
              <a:t>Thank You</a:t>
            </a:r>
          </a:p>
        </p:txBody>
      </p:sp>
      <p:cxnSp>
        <p:nvCxnSpPr>
          <p:cNvPr id="19" name="Straight Connector 18">
            <a:extLst>
              <a:ext uri="{FF2B5EF4-FFF2-40B4-BE49-F238E27FC236}">
                <a16:creationId xmlns:a16="http://schemas.microsoft.com/office/drawing/2014/main" id="{B1D1A340-723B-4014-B5FE-204F062731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4558589"/>
            <a:ext cx="9144000" cy="0"/>
          </a:xfrm>
          <a:prstGeom prst="line">
            <a:avLst/>
          </a:prstGeom>
          <a:ln w="28575">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9C78238-2DBB-485D-537C-2253BE2F2401}"/>
              </a:ext>
            </a:extLst>
          </p:cNvPr>
          <p:cNvSpPr txBox="1"/>
          <p:nvPr/>
        </p:nvSpPr>
        <p:spPr>
          <a:xfrm>
            <a:off x="3532149" y="4558589"/>
            <a:ext cx="5243512" cy="553998"/>
          </a:xfrm>
          <a:prstGeom prst="rect">
            <a:avLst/>
          </a:prstGeom>
          <a:noFill/>
        </p:spPr>
        <p:txBody>
          <a:bodyPr wrap="square" rtlCol="0">
            <a:spAutoFit/>
          </a:bodyPr>
          <a:lstStyle/>
          <a:p>
            <a:pPr algn="ctr"/>
            <a:r>
              <a:rPr lang="en-US" sz="3000" dirty="0"/>
              <a:t>Any Questions?</a:t>
            </a:r>
          </a:p>
        </p:txBody>
      </p:sp>
    </p:spTree>
    <p:extLst>
      <p:ext uri="{BB962C8B-B14F-4D97-AF65-F5344CB8AC3E}">
        <p14:creationId xmlns:p14="http://schemas.microsoft.com/office/powerpoint/2010/main" val="12511551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2942</TotalTime>
  <Words>1202</Words>
  <Application>Microsoft Macintosh PowerPoint</Application>
  <PresentationFormat>Widescreen</PresentationFormat>
  <Paragraphs>62</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Rockwell</vt:lpstr>
      <vt:lpstr>Rockwell Condensed</vt:lpstr>
      <vt:lpstr>Rockwell Extra Bold</vt:lpstr>
      <vt:lpstr>Wingdings</vt:lpstr>
      <vt:lpstr>Wood Type</vt:lpstr>
      <vt:lpstr>Comparative Analysis: CNN Vs ANN for Fashion-MMst</vt:lpstr>
      <vt:lpstr>Finding Robust Classifier</vt:lpstr>
      <vt:lpstr>Key Findings: CNN delivers superior performance</vt:lpstr>
      <vt:lpstr>Methodology Part – 1: Data Preparation</vt:lpstr>
      <vt:lpstr>Methodology Part – ii : Model Architectures (PyTorch)</vt:lpstr>
      <vt:lpstr>Quantitative Results : Accuracy Comparison</vt:lpstr>
      <vt:lpstr>Quantitative Results : Convergence and generalization</vt:lpstr>
      <vt:lpstr>PowerPoint Presentation</vt:lpstr>
      <vt:lpstr>Similar classes confusion matrix : ANN</vt:lpstr>
      <vt:lpstr>Similar classes confusion matrix: CNN</vt:lpstr>
      <vt:lpstr>Predictions and SUmmary</vt:lpstr>
      <vt:lpstr>Conclusion and 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Bhargav Sai Devineni</dc:creator>
  <cp:lastModifiedBy>Bhargav Sai Devineni</cp:lastModifiedBy>
  <cp:revision>1</cp:revision>
  <dcterms:created xsi:type="dcterms:W3CDTF">2025-11-03T02:40:30Z</dcterms:created>
  <dcterms:modified xsi:type="dcterms:W3CDTF">2025-11-05T03:43:21Z</dcterms:modified>
</cp:coreProperties>
</file>